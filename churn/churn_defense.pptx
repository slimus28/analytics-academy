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Gini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Кросс-валидация
внутри июня</c:v>
                  </c:pt>
                  <c:pt idx="1">
                    <c:v>Обучение на марте →
проверка на июне</c:v>
                  </c:pt>
                  <c:pt idx="2">
                    <c:v>In-sample
на июне</c:v>
                  </c:pt>
                  <c:pt idx="3">
                    <c:v>Обучение на июне →
проверка на сентябре</c:v>
                  </c:pt>
                  <c:pt idx="4">
                    <c:v>Обучение на марте →
проверка на сентябре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0.52</c:v>
                </c:pt>
                <c:pt idx="1">
                  <c:v>0.526</c:v>
                </c:pt>
                <c:pt idx="2">
                  <c:v>0.581</c:v>
                </c:pt>
                <c:pt idx="3">
                  <c:v>0.624</c:v>
                </c:pt>
                <c:pt idx="4">
                  <c:v>0.622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3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5F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.4"/>
        </c:scaling>
        <c:delete val="0"/>
        <c:axPos val="l"/>
        <c:majorGridlines>
          <c:spPr>
            <a:ln w="12700" cap="flat">
              <a:solidFill>
                <a:srgbClr val="EDEF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F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Логистическая регрессия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Обучение (март)</c:v>
                  </c:pt>
                  <c:pt idx="1">
                    <c:v>Проверка: июнь</c:v>
                  </c:pt>
                  <c:pt idx="2">
                    <c:v>Проверка: сентябрь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0.647</c:v>
                </c:pt>
                <c:pt idx="1">
                  <c:v>0.526</c:v>
                </c:pt>
                <c:pt idx="2">
                  <c:v>0.622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Градиентный бустинг</c:v>
                </c:pt>
              </c:strCache>
            </c:strRef>
          </c:tx>
          <c:spPr>
            <a:solidFill>
              <a:srgbClr val="C7443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Обучение (март)</c:v>
                  </c:pt>
                  <c:pt idx="1">
                    <c:v>Проверка: июнь</c:v>
                  </c:pt>
                  <c:pt idx="2">
                    <c:v>Проверка: сентябрь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0.96</c:v>
                </c:pt>
                <c:pt idx="1">
                  <c:v>0.513</c:v>
                </c:pt>
                <c:pt idx="2">
                  <c:v>0.603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F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DEF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F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A5F7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Чистый эффект, млн сум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7443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7443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7443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5%</c:v>
                  </c:pt>
                  <c:pt idx="1">
                    <c:v>10%</c:v>
                  </c:pt>
                  <c:pt idx="2">
                    <c:v>15%</c:v>
                  </c:pt>
                  <c:pt idx="3">
                    <c:v>20%</c:v>
                  </c:pt>
                  <c:pt idx="4">
                    <c:v>30%</c:v>
                  </c:pt>
                  <c:pt idx="5">
                    <c:v>50%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10.8</c:v>
                </c:pt>
                <c:pt idx="1">
                  <c:v>8.4</c:v>
                </c:pt>
                <c:pt idx="2">
                  <c:v>2.6</c:v>
                </c:pt>
                <c:pt idx="3">
                  <c:v>-3.7</c:v>
                </c:pt>
                <c:pt idx="4">
                  <c:v>-16.2</c:v>
                </c:pt>
                <c:pt idx="5">
                  <c:v>-42.5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5F7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A5F7A"/>
                    </a:solidFill>
                    <a:latin typeface="Arial"/>
                  </a:rPr>
                  <a:t>глубина обработки списка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F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F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F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Проект про отток. Три вещи, которые хочу показать: как устроен таргет и почему он не пересказ давности; какое качество модели я готов защищать; и где проходит граница между тем, что измерено, и тем, что осталось допущением.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База 20 тысяч. Обучаюсь на июньском снимке, проверяю на сентябрьском, мартовский держу как второй проверочный период. Обратите внимание на 7,31% в июне — к этому вернусь, это ключ к половине выводов.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Первая версия таргета была без лага, и Gini был 0,846. Условие «тишина к концу окна» выполнялось автоматически для всех, кто не совершил операций внутри окна, — таргет сводился к признаку давности. Ввёл лаг, метрика упала до 0,62. Я считаю это главным улучшением проекта, а не потерей.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ответ на главный вопрос, который задают про отток: не переоткрыли ли вы признак «клиент давно не приходил». Три проверки. Сорок пять процентов ушедших были активны внутри лага. Медианы перекрываются. И снятие всех четырёх признаков давности стоит одну тысячную Gini.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Отдельно про кампании удержания: их я сознательно не беру в признаки. Контакт с клиентом — следствие того, что банк уже оценил его как рискового. В модели риска это утечка. Но эта же таблица используется дальше, как воздействие в задаче причинного вывода.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PR-AUC здесь информативнее ROC-AUC, потому что событие редкое: 0,366 против базового уровня 0,054. Практический смысл — на верхних пяти процентах списка каждый второй-третий действительно уйдёт, вместо каждого двадцатого при случайном отборе.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оценок одной модели. Внутри одного периода разные способы измерения дают почти одно и то же — расхождение шесть тысячных. Между периодами — десять сотых. Значит источник разброса не модель и не схема измерения, а сам период.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я чуть не ошибся. Парный бутстрэп на проверочной выборке дал устойчивое преимущество бустинга — ноль вне доверительного интервала. Но когда я сменил обучающий период, преимущество исчезло на обоих проверочных снимках. Статистическая значимость на одной выборке не то же самое, что воспроизводимость.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Реформа объясняет сразу две вещи: всплеск оттока в июне и отрицательный разрыв между обучением и проверкой. Модель обучена на периоде с шоком, которого она не видит, поэтому её собственная оценка качества на этом периоде занижена.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Формальная проверка общей опоры здесь проходит — диапазоны склонности пересекаются. Это ловушка: она сравнивает границы, а не плотности. Разоблачает эффективный размер выборки: двести четыре контакта весят как двадцать четыре.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Стоимость часа оператора выведена из зарплаты и накладных, стоимость контакта — из доли дозвона, стоимость привлечения посчитана тремя независимыми методами. Международные бенчмарки использованы только как контекст. И сразу называю слабое место: отклик приравнен к удержанию.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Заканчиваю тем, что модель — только половина решения. Она говорит, кого предупредить. Помогает ли предупреждение, эти данные ответить не могут, и я показал почему. Ответ даст первый же эксперимент со случайной контрольной группой.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371600"/>
            <a:ext cx="3383280" cy="3383280"/>
          </a:xfrm>
          <a:prstGeom prst="roundRect">
            <a:avLst>
              <a:gd name="adj" fmla="val 5405"/>
            </a:avLst>
          </a:prstGeom>
          <a:solidFill>
            <a:srgbClr val="2A3576"/>
          </a:solidFill>
          <a:ln w="12700">
            <a:solidFill>
              <a:srgbClr val="3D4A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38160" y="18288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0,62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8138160" y="2880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на проверке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38160" y="34290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138160" y="4069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оттока не видно по давности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Прогноз оттока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клиентов банка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Модель, экономика удержания и честные границы того,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 этим данным можно измерить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1206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Академия аналитики  ·  защита проекта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 и данные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Синтетическая база банка, девять источников признаков, горизонт до 31 декабря 2025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F4F6FC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20 000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клиентов в базе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02152" y="187452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F4F6FC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02152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12 401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02152" y="28346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операцией в декабре 2025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64224" y="187452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F4F6FC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64224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364224" y="28346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источников признаков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226296" y="187452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F4F6FC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26296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226296" y="28346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снимка для обучения и проверки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4F6FC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9502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предсказываем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14400" y="44348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закрытие счёта, а прекращение активности — «тихий» отток.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Его не видно в отчётности, но на него ещё можно повлиять.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 годовые доли выше рыночных 13–19%: другое определение, а не худший портфель.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3749040"/>
            <a:ext cx="5166360" cy="2377440"/>
          </a:xfrm>
          <a:prstGeom prst="roundRect">
            <a:avLst>
              <a:gd name="adj" fmla="val 3462"/>
            </a:avLst>
          </a:prstGeom>
          <a:solidFill>
            <a:srgbClr val="F4F6FC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29400" y="3950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снимка</a:t>
            </a:r>
            <a:endParaRPr lang="en-US" sz="1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4434840"/>
          <a:ext cx="46177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143000"/>
                <a:gridCol w="11430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снимок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клиентов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отток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марта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9 817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июня — обучение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10 463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сентября — проверка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10 865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Таргет: зачем нужен лаг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лага модель предсказывает то, на что уже нельзя повлиять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74904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591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26700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история до t₀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80560" y="2286000"/>
            <a:ext cx="2377440" cy="713232"/>
          </a:xfrm>
          <a:prstGeom prst="roundRect">
            <a:avLst>
              <a:gd name="adj" fmla="val 10256"/>
            </a:avLst>
          </a:prstGeom>
          <a:solidFill>
            <a:srgbClr val="C7443E"/>
          </a:solidFill>
          <a:ln w="12700">
            <a:solidFill>
              <a:srgbClr val="C744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23591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Лаг · 30 дней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480560" y="2670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скоринг, решение, контакт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949440" y="2286000"/>
            <a:ext cx="4572000" cy="713232"/>
          </a:xfrm>
          <a:prstGeom prst="roundRect">
            <a:avLst>
              <a:gd name="adj" fmla="val 10256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2359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исхода · 60 дней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949440" y="2670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хоть одна успешная операция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80560" y="3127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t₀ — дата снимка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3520440" cy="2194560"/>
          </a:xfrm>
          <a:prstGeom prst="roundRect">
            <a:avLst>
              <a:gd name="adj" fmla="val 3750"/>
            </a:avLst>
          </a:prstGeom>
          <a:solidFill>
            <a:srgbClr val="F4F6FC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3977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Ушёл =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4370832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одной успешной операции за 60 дней окна исхода.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60 дней выбран по кривой реактивации — там, где доля возвращающихся выходит на плато.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34840" y="3794760"/>
            <a:ext cx="3520440" cy="2194560"/>
          </a:xfrm>
          <a:prstGeom prst="roundRect">
            <a:avLst>
              <a:gd name="adj" fmla="val 3750"/>
            </a:avLst>
          </a:prstGeom>
          <a:solidFill>
            <a:srgbClr val="F4F6FC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3977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лаг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09160" y="4370832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Месяц между последним известным действием и окном исхода — время, за которое банк успевает отреагировать.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него «уйдёт» почти совпадает с «уже молчит».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0" y="3794760"/>
            <a:ext cx="3291840" cy="219456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58200" y="3977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Цена честности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58200" y="4434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0,846  →  0,624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458200" y="49834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упал после введения лага. Это не ухудшение модели, а исчезновение тавтологии в таргете.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Таргет — не пересказ давности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независимые проверки одного и того же утверждения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4F6FC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402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03580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ушедших были активны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лага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645920" y="3840480"/>
            <a:ext cx="1508760" cy="0"/>
          </a:xfrm>
          <a:prstGeom prst="line">
            <a:avLst/>
          </a:prstGeom>
          <a:noFill/>
          <a:ln w="12700">
            <a:solidFill>
              <a:srgbClr val="D6DC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233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дату снимка почти половина будущего оттока выглядела живой.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96596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4F6FC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22402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против 4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617720" y="303580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 дней молчания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ушедшие / оставшиеся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40680" y="3840480"/>
            <a:ext cx="1508760" cy="0"/>
          </a:xfrm>
          <a:prstGeom prst="line">
            <a:avLst/>
          </a:prstGeom>
          <a:noFill/>
          <a:ln w="12700">
            <a:solidFill>
              <a:srgbClr val="D6DC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40233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Нижний квартиль 3 против 2 — распределения перекрываются почти целиком.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196596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4F6FC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0" y="22402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−0,001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412480" y="303580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снятия всех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признаков давности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235440" y="3840480"/>
            <a:ext cx="1508760" cy="0"/>
          </a:xfrm>
          <a:prstGeom prst="line">
            <a:avLst/>
          </a:prstGeom>
          <a:noFill/>
          <a:ln w="12700">
            <a:solidFill>
              <a:srgbClr val="D6DC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9640" y="40233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 0,624, стало 0,623. Одна давность в одиночку даёт 0,425.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5321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сравнения: на версии таргета без лага давность в одиночку давала 0,724 из 0,846 — тогда модель действительно стояла на ней.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не вошло в модель и почему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Отбраковка источников — отдельный этап, а не побочный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4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Содержат информацию из будущего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F4F6FC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3957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churn_customers_360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270662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таргет и агрегаты, посчитанные на дату выгрузки. Прямая утечка.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493008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F4F6FC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36027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churn_nps_survey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391363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Опросы с 1 ноября по 31 декабря 2025 — после всех трёх снимков.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700016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F4F6FC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48097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Тарифные признаки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5120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Нулевая дисперсия в обучающем срезе: реформа началась на следующий день после снимка.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использованы по другим причинам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09360" y="2286000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F4F6FC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23957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churn_transactions_archive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37960" y="270662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дубликат: 815 568 строк уже есть в основной таблице, плюс 31 093 задвоения внутри архива.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3493008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F4F6FC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37960" y="360273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churn_customers_crm_old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37960" y="39136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Устаревшая копия справочника: другой ключ, 14 000 строк против 20 000.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4700016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F4F6FC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37960" y="48097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churn_retention_campaigns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37960" y="5120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 признаки — контакт есть следствие оценки риска банком. Использована отдельно, как воздействие.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 52 признака из 64. Двенадцать отсеяны по нулевой дисперсии в обучении, включая все тарифные.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и качество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Логистическая регрессия, 52 признака, разбиение по времени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937760" cy="3931920"/>
          </a:xfrm>
          <a:prstGeom prst="roundRect">
            <a:avLst>
              <a:gd name="adj" fmla="val 2093"/>
            </a:avLst>
          </a:prstGeom>
          <a:solidFill>
            <a:srgbClr val="F4F6FC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Метрики на проверке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606040"/>
          <a:ext cx="43891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737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0,812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0,472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0,366  при базе 0,054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на 5% списка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14400" y="47091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0,5 не используется: при доле оттока 5,4% он даёт Precision 0,139. Рабочий порог задаёт экономика.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852160" y="1874520"/>
            <a:ext cx="5669280" cy="3931920"/>
          </a:xfrm>
          <a:prstGeom prst="roundRect">
            <a:avLst>
              <a:gd name="adj" fmla="val 2093"/>
            </a:avLst>
          </a:prstGeom>
          <a:solidFill>
            <a:srgbClr val="1E2761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72200" y="21945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7,4 раза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6172200" y="3063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точнее случайного отбора на верхних 5% списка: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40,1% против базовых 5,4%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72200" y="3977640"/>
            <a:ext cx="5029200" cy="0"/>
          </a:xfrm>
          <a:prstGeom prst="line">
            <a:avLst/>
          </a:prstGeom>
          <a:noFill/>
          <a:ln w="12700">
            <a:solidFill>
              <a:srgbClr val="3D4A9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5080" y="42062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по времени, а не случайная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окна признаков строго до t₀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Пересечение клиентов между снимками проверено отдельно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диапазон, а не одна цифра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Неустойчива не модель, а период: внутри периода оценки совпадают, между периодами — нет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920240"/>
          <a:ext cx="6858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92024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F4F6FC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01000" y="20848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Июньский период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01000" y="24688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0,520 и 0,526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независимые оценки разошлись на 0,006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772400" y="388620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F4F6FC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01000" y="40507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Сентябрьский период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01000" y="44348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0,624 и 0,622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разница между периодами — 0,10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Заявляю 0,62 как рабочее качество и 0,52 как нижнюю границу при разовом внешнем событии.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не градиентный бустинг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Бустинг выиграл на одной паре снимков и проиграл на обеих проверках при смене периода обучения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011680"/>
          <a:ext cx="67665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2011680"/>
            <a:ext cx="3840480" cy="1737360"/>
          </a:xfrm>
          <a:prstGeom prst="roundRect">
            <a:avLst>
              <a:gd name="adj" fmla="val 4737"/>
            </a:avLst>
          </a:prstGeom>
          <a:solidFill>
            <a:srgbClr val="F4F6FC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09560" y="2176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говорил бутстрэп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09560" y="25603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+0,027 в пользу бустинга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интервал [+0,005; +0,049]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99,1% пересборок за бустинг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80960" y="3886200"/>
            <a:ext cx="3840480" cy="1874520"/>
          </a:xfrm>
          <a:prstGeom prst="roundRect">
            <a:avLst>
              <a:gd name="adj" fmla="val 4390"/>
            </a:avLst>
          </a:prstGeom>
          <a:solidFill>
            <a:srgbClr val="1E2761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909560" y="40507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решило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909560" y="44348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бустинга на обучении 0,960 — это запоминание снимка, а не обучение. Преимущество не перенеслось на другой период.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Тарифная реформа: разовый шок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одновременно — объяснение, почему обучающий период труднее проверочного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1463040"/>
          </a:xfrm>
          <a:prstGeom prst="roundRect">
            <a:avLst>
              <a:gd name="adj" fmla="val 5625"/>
            </a:avLst>
          </a:prstGeom>
          <a:solidFill>
            <a:srgbClr val="F4F6FC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02996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8 044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85292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клиента затронуто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02152" y="1920240"/>
            <a:ext cx="2606040" cy="1463040"/>
          </a:xfrm>
          <a:prstGeom prst="roundRect">
            <a:avLst>
              <a:gd name="adj" fmla="val 5625"/>
            </a:avLst>
          </a:prstGeom>
          <a:solidFill>
            <a:srgbClr val="F4F6FC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02152" y="202996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+15 654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02152" y="285292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сум/мес средний прирост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64224" y="1920240"/>
            <a:ext cx="2606040" cy="1463040"/>
          </a:xfrm>
          <a:prstGeom prst="roundRect">
            <a:avLst>
              <a:gd name="adj" fmla="val 5625"/>
            </a:avLst>
          </a:prstGeom>
          <a:solidFill>
            <a:srgbClr val="F4F6FC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64224" y="202996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+4,19 п.п.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364224" y="285292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оттоку, z = 9,75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226296" y="1920240"/>
            <a:ext cx="2606040" cy="1463040"/>
          </a:xfrm>
          <a:prstGeom prst="roundRect">
            <a:avLst>
              <a:gd name="adj" fmla="val 5625"/>
            </a:avLst>
          </a:prstGeom>
          <a:solidFill>
            <a:srgbClr val="F4F6FC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26296" y="202996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3,3 – 5,1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226296" y="285292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доверительный интервал, п.п.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5440680" cy="2286000"/>
          </a:xfrm>
          <a:prstGeom prst="roundRect">
            <a:avLst>
              <a:gd name="adj" fmla="val 3600"/>
            </a:avLst>
          </a:prstGeom>
          <a:solidFill>
            <a:srgbClr val="F4F6FC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886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обучение труднее проверки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4315968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исхода июньского снимка — с 30 июля по 28 сентября, целиком после реформы. У сентябрьского снимка окно с 30 октября, всплеск уже прошёл.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Лишний отток в обучении вызван причиной, которой в признаках нет: тарифные признаки в июньском срезе имеют нулевую дисперсию.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3703320"/>
            <a:ext cx="5166360" cy="2286000"/>
          </a:xfrm>
          <a:prstGeom prst="roundRect">
            <a:avLst>
              <a:gd name="adj" fmla="val 3600"/>
            </a:avLst>
          </a:prstGeom>
          <a:solidFill>
            <a:srgbClr val="1E2761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29400" y="3886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это значит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29400" y="4315968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Разовое внешнее событие моделью не покрывается по построению — в обучении о нём нет ни одной записи.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Оно требует отдельного сценарного расчёта и переобучения после события. Это ограничение дизайна, названное заранее, а не провал.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Группы затронутых и незатронутых неразличимы по сегменту, региону, каналу, стажу и активности — эффект не объясняется составом.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Эффект удержания здесь не измеряется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Отрицательный результат, но содержательный: он говорит о программе больше, чем любая цифра uplift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6675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600200"/>
                <a:gridCol w="17830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группа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контактов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осталось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Возврат — WINBACK_*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74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Удержание — CALL, FEE_WAIVER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74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Контроль — без контакта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30 941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114800"/>
            <a:ext cx="6675120" cy="1874520"/>
          </a:xfrm>
          <a:prstGeom prst="roundRect">
            <a:avLst>
              <a:gd name="adj" fmla="val 4390"/>
            </a:avLst>
          </a:prstGeom>
          <a:solidFill>
            <a:srgbClr val="F4F6FC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427939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Прямое доказательство: контакт назначается по исходу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466344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 дней молчания на дату снимка: 4 у контроля против 34 у контактированных — одинаково у удерживающих и возвратных кампаний. Банк звонит тем, кто уже месяц молчит. При пороге тишины 60 дней такой клиент уйдёт почти независимо от звонка.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589520" y="1965960"/>
            <a:ext cx="3931920" cy="4023360"/>
          </a:xfrm>
          <a:prstGeom prst="roundRect">
            <a:avLst>
              <a:gd name="adj" fmla="val 2093"/>
            </a:avLst>
          </a:prstGeom>
          <a:solidFill>
            <a:srgbClr val="1E2761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63840" y="21945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не спасает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коррекция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863840" y="30175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0,940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863840" y="35204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склонности — назначение почти детерминированное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863840" y="42062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 23,6 из 204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863840" y="470916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эффективный размер выборки у контактированных — 11,6%. Одно наблюдение забирает 12,6% веса.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Нарушено условие позитивности, а не только сопоставимости.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Экономика: оптимум на верхних 5%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параметры выведены снизу вверх под местный рынок, не взяты из бенчмарков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011680"/>
          <a:ext cx="67665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2011680"/>
            <a:ext cx="3840480" cy="1737360"/>
          </a:xfrm>
          <a:prstGeom prst="roundRect">
            <a:avLst>
              <a:gd name="adj" fmla="val 4737"/>
            </a:avLst>
          </a:prstGeom>
          <a:solidFill>
            <a:srgbClr val="F4F6FC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09560" y="2176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Оптимум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09560" y="25420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10,8 млн сум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909560" y="303580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543 клиента, 27,6 удержанных ожидаемо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680960" y="3886200"/>
            <a:ext cx="3840480" cy="1874520"/>
          </a:xfrm>
          <a:prstGeom prst="roundRect">
            <a:avLst>
              <a:gd name="adj" fmla="val 4390"/>
            </a:avLst>
          </a:prstGeom>
          <a:solidFill>
            <a:srgbClr val="1E2761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F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09560" y="40507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Оговорка, которую называю сам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909560" y="457200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отклика 12,6% входит в расчёт как эффект удержания. Равенство «откликнулся = остался» на этих данных не проверяется.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оценка потенциала при названном допущении, а не измеренная выгода.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я предлагаю бизнесу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73352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3736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54480" y="160020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Сдвинуть момент контакта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20116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звонят через 34 дня молчания при лаге на вмешательство в 30 дней. Программа работает как возврат, а называется удержанием. Модель нужна, чтобы связываться заранее — в первые дни после скоринга.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18688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308152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Поставить эксперимент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3493008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отобранной части списка случайным жребием откладывается контроль. Только так эффект удержания превращается из допущения в число. Расчёт размера выборки — в разделе 12.3.8.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31520" y="4636008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700016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54480" y="456285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Завести флаг вмешательства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4974336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него следующая модель обучится на данных, испорченных этой же кампанией, и повторится ровно та ситуация, которую я сегодня разбирал.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1520" y="5989320"/>
            <a:ext cx="10698480" cy="0"/>
          </a:xfrm>
          <a:prstGeom prst="line">
            <a:avLst/>
          </a:prstGeom>
          <a:noFill/>
          <a:ln w="12700">
            <a:solidFill>
              <a:srgbClr val="3D4A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614476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отвечает, кого предупредить. Эксперимент — помогает ли предупреждение. Второго в этих данных нет, и это тоже результат.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2026-08-15T13:03:00Z</dcterms:created>
  <dcterms:modified xsi:type="dcterms:W3CDTF">2026-08-15T13:03:00Z</dcterms:modified>
</cp:coreProperties>
</file>