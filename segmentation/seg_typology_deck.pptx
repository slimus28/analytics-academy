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Клиентов в помесячных таблицах</c:v>
                </c:pt>
              </c:strCache>
            </c:strRef>
          </c:tx>
          <c:spPr>
            <a:solidFill>
              <a:srgbClr val="1E2761"/>
            </a:solidFill>
            <a:ln w="2540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E2761"/>
              </a:solidFill>
              <a:ln w="9525" cap="flat">
                <a:solidFill>
                  <a:srgbClr val="1E2761"/>
                </a:solidFill>
                <a:prstDash val="solid"/>
                <a:round/>
              </a:ln>
              <a:effectLst/>
            </c:spPr>
          </c:marker>
          <c:cat>
            <c:multiLvlStrRef>
              <c:f>Sheet1!$A$2:$A$13</c:f>
              <c:multiLvlStrCache>
                <c:ptCount val="12"/>
                <c:lvl>
                  <c:pt idx="0">
                    <c:v>01.24</c:v>
                  </c:pt>
                  <c:pt idx="1">
                    <c:v>03.24</c:v>
                  </c:pt>
                  <c:pt idx="2">
                    <c:v>05.24</c:v>
                  </c:pt>
                  <c:pt idx="3">
                    <c:v>07.24</c:v>
                  </c:pt>
                  <c:pt idx="4">
                    <c:v>09.24</c:v>
                  </c:pt>
                  <c:pt idx="5">
                    <c:v>11.24</c:v>
                  </c:pt>
                  <c:pt idx="6">
                    <c:v>01.25</c:v>
                  </c:pt>
                  <c:pt idx="7">
                    <c:v>03.25</c:v>
                  </c:pt>
                  <c:pt idx="8">
                    <c:v>05.25</c:v>
                  </c:pt>
                  <c:pt idx="9">
                    <c:v>07.25</c:v>
                  </c:pt>
                  <c:pt idx="10">
                    <c:v>09.25</c:v>
                  </c:pt>
                  <c:pt idx="11">
                    <c:v>11.25</c:v>
                  </c:pt>
                </c:lvl>
              </c:multiLvlStrCache>
            </c:multiLvlStrRef>
          </c:cat>
          <c:val>
            <c:numRef>
              <c:f>Sheet1!$B$2:$B$13</c:f>
              <c:numCache>
                <c:formatCode>General</c:formatCode>
                <c:ptCount val="12"/>
                <c:pt idx="0">
                  <c:v>15013</c:v>
                </c:pt>
                <c:pt idx="1">
                  <c:v>15532</c:v>
                </c:pt>
                <c:pt idx="2">
                  <c:v>16031</c:v>
                </c:pt>
                <c:pt idx="3">
                  <c:v>16509</c:v>
                </c:pt>
                <c:pt idx="4">
                  <c:v>17027</c:v>
                </c:pt>
                <c:pt idx="5">
                  <c:v>17512</c:v>
                </c:pt>
                <c:pt idx="6">
                  <c:v>17984</c:v>
                </c:pt>
                <c:pt idx="7">
                  <c:v>18495</c:v>
                </c:pt>
                <c:pt idx="8">
                  <c:v>19005</c:v>
                </c:pt>
                <c:pt idx="9">
                  <c:v>19471</c:v>
                </c:pt>
                <c:pt idx="10">
                  <c:v>19987</c:v>
                </c:pt>
                <c:pt idx="11">
                  <c:v>20000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5F7A"/>
                </a:solidFill>
                <a:latin typeface="Arial"/>
              </a:defRPr>
            </a:pPr>
            <a:endParaRPr lang="en-US"/>
          </a:p>
        </c:txPr>
        <c:crossAx val="2094734552"/>
        <c:crosses val="autoZero"/>
        <c:auto val="1"/>
        <c:lblAlgn val="ctr"/>
        <c:noMultiLvlLbl val="1"/>
      </c:catAx>
      <c:valAx>
        <c:axId val="2094734552"/>
        <c:scaling>
          <c:orientation val="minMax"/>
          <c:max val="20500"/>
          <c:min val="14000"/>
        </c:scaling>
        <c:delete val="0"/>
        <c:axPos val="l"/>
        <c:majorGridlines>
          <c:spPr>
            <a:ln w="12700" cap="flat">
              <a:solidFill>
                <a:srgbClr val="EDEF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F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Силуэт</c:v>
                </c:pt>
              </c:strCache>
            </c:strRef>
          </c:tx>
          <c:spPr>
            <a:solidFill>
              <a:srgbClr val="1E2761"/>
            </a:solidFill>
            <a:ln w="2540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Sheet1!$A$2:$A$10</c:f>
              <c:multiLvlStrCache>
                <c:ptCount val="9"/>
                <c:lvl>
                  <c:pt idx="0">
                    <c:v>2</c:v>
                  </c:pt>
                  <c:pt idx="1">
                    <c:v>3</c:v>
                  </c:pt>
                  <c:pt idx="2">
                    <c:v>4</c:v>
                  </c:pt>
                  <c:pt idx="3">
                    <c:v>5</c:v>
                  </c:pt>
                  <c:pt idx="4">
                    <c:v>6</c:v>
                  </c:pt>
                  <c:pt idx="5">
                    <c:v>7</c:v>
                  </c:pt>
                  <c:pt idx="6">
                    <c:v>8</c:v>
                  </c:pt>
                  <c:pt idx="7">
                    <c:v>9</c:v>
                  </c:pt>
                  <c:pt idx="8">
                    <c:v>10</c:v>
                  </c:pt>
                </c:lvl>
              </c:multiLvlStrCache>
            </c:multiLvlStrRef>
          </c:cat>
          <c:val>
            <c:numRef>
              <c:f>Sheet1!$B$2:$B$10</c:f>
              <c:numCache>
                <c:formatCode>General</c:formatCode>
                <c:ptCount val="9"/>
                <c:pt idx="0">
                  <c:v>0.269</c:v>
                </c:pt>
                <c:pt idx="1">
                  <c:v>0.25</c:v>
                </c:pt>
                <c:pt idx="2">
                  <c:v>0.284</c:v>
                </c:pt>
                <c:pt idx="3">
                  <c:v>0.306</c:v>
                </c:pt>
                <c:pt idx="4">
                  <c:v>0.247</c:v>
                </c:pt>
                <c:pt idx="5">
                  <c:v>0.252</c:v>
                </c:pt>
                <c:pt idx="6">
                  <c:v>0.221</c:v>
                </c:pt>
                <c:pt idx="7">
                  <c:v>0.225</c:v>
                </c:pt>
                <c:pt idx="8">
                  <c:v>0.215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A5F7A"/>
                    </a:solidFill>
                    <a:latin typeface="Arial"/>
                  </a:defRPr>
                </a:pPr>
                <a:r>
                  <a:rPr sz="1100" b="0" i="0" u="none" strike="noStrike">
                    <a:solidFill>
                      <a:srgbClr val="5A5F7A"/>
                    </a:solidFill>
                    <a:latin typeface="Arial"/>
                  </a:rPr>
                  <a:t>число классов</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F7A"/>
                </a:solidFill>
                <a:latin typeface="Arial"/>
              </a:defRPr>
            </a:pPr>
            <a:endParaRPr lang="en-US"/>
          </a:p>
        </c:txPr>
        <c:crossAx val="2094734552"/>
        <c:crosses val="autoZero"/>
        <c:auto val="1"/>
        <c:lblAlgn val="ctr"/>
        <c:noMultiLvlLbl val="1"/>
      </c:catAx>
      <c:valAx>
        <c:axId val="2094734552"/>
        <c:scaling>
          <c:orientation val="minMax"/>
          <c:max val="0.32"/>
          <c:min val="0.2"/>
        </c:scaling>
        <c:delete val="0"/>
        <c:axPos val="l"/>
        <c:majorGridlines>
          <c:spPr>
            <a:ln w="12700" cap="flat">
              <a:solidFill>
                <a:srgbClr val="EDEF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F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Доля клиентов, %</c:v>
                </c:pt>
              </c:strCache>
            </c:strRef>
          </c:tx>
          <c:spPr>
            <a:solidFill>
              <a:srgbClr val="CADCFC"/>
            </a:solidFill>
            <a:effectLst/>
          </c:spPr>
          <c:invertIfNegative val="0"/>
          <c:dLbls>
            <c:numFmt formatCode="0.0" sourceLinked="0"/>
            <c:txPr>
              <a:bodyPr/>
              <a:lstStyle/>
              <a:p>
                <a:pPr>
                  <a:defRPr b="0" i="0" strike="noStrike" sz="1050" u="none">
                    <a:solidFill>
                      <a:srgbClr val="1A1A2E"/>
                    </a:solidFill>
                    <a:latin typeface="Arial"/>
                  </a:defRPr>
                </a:pPr>
              </a:p>
            </c:txPr>
            <c:showLegendKey val="0"/>
            <c:showVal val="1"/>
            <c:showCatName val="0"/>
            <c:showSerName val="0"/>
            <c:showPercent val="0"/>
            <c:showBubbleSize val="0"/>
            <c:showLeaderLines val="0"/>
          </c:dLbls>
          <c:cat>
            <c:multiLvlStrRef>
              <c:f>Sheet1!$A$2:$A$6</c:f>
              <c:multiLvlStrCache>
                <c:ptCount val="5"/>
                <c:lvl>
                  <c:pt idx="0">
                    <c:v>Обороты</c:v>
                  </c:pt>
                  <c:pt idx="1">
                    <c:v>Хранители
остатка</c:v>
                  </c:pt>
                  <c:pt idx="2">
                    <c:v>Цифровые
тратчики</c:v>
                  </c:pt>
                  <c:pt idx="3">
                    <c:v>Наличные
повседневные</c:v>
                  </c:pt>
                  <c:pt idx="4">
                    <c:v>Спящий
пластик</c:v>
                  </c:pt>
                </c:lvl>
              </c:multiLvlStrCache>
            </c:multiLvlStrRef>
          </c:cat>
          <c:val>
            <c:numRef>
              <c:f>Sheet1!$B$2:$B$6</c:f>
              <c:numCache>
                <c:formatCode>General</c:formatCode>
                <c:ptCount val="5"/>
                <c:pt idx="0">
                  <c:v>12.5</c:v>
                </c:pt>
                <c:pt idx="1">
                  <c:v>13.7</c:v>
                </c:pt>
                <c:pt idx="2">
                  <c:v>21.6</c:v>
                </c:pt>
                <c:pt idx="3">
                  <c:v>41.1</c:v>
                </c:pt>
                <c:pt idx="4">
                  <c:v>11.1</c:v>
                </c:pt>
              </c:numCache>
            </c:numRef>
          </c:val>
        </c:ser>
        <c:ser>
          <c:idx val="1"/>
          <c:order val="1"/>
          <c:tx>
            <c:strRef>
              <c:f>Sheet1!$C$1</c:f>
              <c:strCache>
                <c:ptCount val="1"/>
                <c:pt idx="0">
                  <c:v>Доля дохода, %</c:v>
                </c:pt>
              </c:strCache>
            </c:strRef>
          </c:tx>
          <c:spPr>
            <a:solidFill>
              <a:srgbClr val="1E2761"/>
            </a:solidFill>
            <a:effectLst/>
          </c:spPr>
          <c:invertIfNegative val="0"/>
          <c:dLbls>
            <c:numFmt formatCode="0.0" sourceLinked="0"/>
            <c:txPr>
              <a:bodyPr/>
              <a:lstStyle/>
              <a:p>
                <a:pPr>
                  <a:defRPr b="0" i="0" strike="noStrike" sz="1050" u="none">
                    <a:solidFill>
                      <a:srgbClr val="1A1A2E"/>
                    </a:solidFill>
                    <a:latin typeface="Arial"/>
                  </a:defRPr>
                </a:pPr>
              </a:p>
            </c:txPr>
            <c:showLegendKey val="0"/>
            <c:showVal val="1"/>
            <c:showCatName val="0"/>
            <c:showSerName val="0"/>
            <c:showPercent val="0"/>
            <c:showBubbleSize val="0"/>
            <c:showLeaderLines val="0"/>
          </c:dLbls>
          <c:cat>
            <c:multiLvlStrRef>
              <c:f>Sheet1!$A$2:$A$6</c:f>
              <c:multiLvlStrCache>
                <c:ptCount val="5"/>
                <c:lvl>
                  <c:pt idx="0">
                    <c:v>Обороты</c:v>
                  </c:pt>
                  <c:pt idx="1">
                    <c:v>Хранители
остатка</c:v>
                  </c:pt>
                  <c:pt idx="2">
                    <c:v>Цифровые
тратчики</c:v>
                  </c:pt>
                  <c:pt idx="3">
                    <c:v>Наличные
повседневные</c:v>
                  </c:pt>
                  <c:pt idx="4">
                    <c:v>Спящий
пластик</c:v>
                  </c:pt>
                </c:lvl>
              </c:multiLvlStrCache>
            </c:multiLvlStrRef>
          </c:cat>
          <c:val>
            <c:numRef>
              <c:f>Sheet1!$C$2:$C$6</c:f>
              <c:numCache>
                <c:formatCode>General</c:formatCode>
                <c:ptCount val="5"/>
                <c:pt idx="0">
                  <c:v>49.2</c:v>
                </c:pt>
                <c:pt idx="1">
                  <c:v>24.5</c:v>
                </c:pt>
                <c:pt idx="2">
                  <c:v>14.9</c:v>
                </c:pt>
                <c:pt idx="3">
                  <c:v>11</c:v>
                </c:pt>
                <c:pt idx="4">
                  <c:v>0.4</c:v>
                </c:pt>
              </c:numCache>
            </c:numRef>
          </c:val>
        </c:ser>
        <c:dLbls>
          <c:numFmt formatCode="0.0" sourceLinked="0"/>
          <c:txPr>
            <a:bodyPr/>
            <a:lstStyle/>
            <a:p>
              <a:pPr>
                <a:defRPr b="0" i="0" strike="noStrike" sz="1050" u="none">
                  <a:solidFill>
                    <a:srgbClr val="1A1A2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5F7A"/>
                </a:solidFill>
                <a:latin typeface="Arial"/>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12700" cap="flat">
              <a:solidFill>
                <a:srgbClr val="EDEF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F7A"/>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5A5F7A"/>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Типология (k=5)</c:v>
                </c:pt>
              </c:strCache>
            </c:strRef>
          </c:tx>
          <c:spPr>
            <a:solidFill>
              <a:srgbClr val="1E2761"/>
            </a:solidFill>
            <a:effectLst/>
          </c:spPr>
          <c:invertIfNegative val="0"/>
          <c:dLbls>
            <c:numFmt formatCode="0.000" sourceLinked="0"/>
            <c:txPr>
              <a:bodyPr/>
              <a:lstStyle/>
              <a:p>
                <a:pPr>
                  <a:defRPr b="0" i="0" strike="noStrike" sz="1000" u="none">
                    <a:solidFill>
                      <a:srgbClr val="1A1A2E"/>
                    </a:solidFill>
                    <a:latin typeface="Arial"/>
                  </a:defRPr>
                </a:pPr>
              </a:p>
            </c:txPr>
            <c:showLegendKey val="0"/>
            <c:showVal val="1"/>
            <c:showCatName val="0"/>
            <c:showSerName val="0"/>
            <c:showPercent val="0"/>
            <c:showBubbleSize val="0"/>
            <c:showLeaderLines val="0"/>
          </c:dLbls>
          <c:cat>
            <c:multiLvlStrRef>
              <c:f>Sheet1!$A$2:$A$6</c:f>
              <c:multiLvlStrCache>
                <c:ptCount val="5"/>
                <c:lvl>
                  <c:pt idx="0">
                    <c:v>Средний
остаток</c:v>
                  </c:pt>
                  <c:pt idx="1">
                    <c:v>Доля снятий
в банкомате</c:v>
                  </c:pt>
                  <c:pt idx="2">
                    <c:v>Доля платежей
в интернете</c:v>
                  </c:pt>
                  <c:pt idx="3">
                    <c:v>Доля
дискреционных</c:v>
                  </c:pt>
                  <c:pt idx="4">
                    <c:v>Оборот</c:v>
                  </c:pt>
                </c:lvl>
              </c:multiLvlStrCache>
            </c:multiLvlStrRef>
          </c:cat>
          <c:val>
            <c:numRef>
              <c:f>Sheet1!$B$2:$B$6</c:f>
              <c:numCache>
                <c:formatCode>General</c:formatCode>
                <c:ptCount val="5"/>
                <c:pt idx="0">
                  <c:v>0.608</c:v>
                </c:pt>
                <c:pt idx="1">
                  <c:v>0.455</c:v>
                </c:pt>
                <c:pt idx="2">
                  <c:v>0.533</c:v>
                </c:pt>
                <c:pt idx="3">
                  <c:v>0.856</c:v>
                </c:pt>
                <c:pt idx="4">
                  <c:v>0.75</c:v>
                </c:pt>
              </c:numCache>
            </c:numRef>
          </c:val>
        </c:ser>
        <c:ser>
          <c:idx val="1"/>
          <c:order val="1"/>
          <c:tx>
            <c:strRef>
              <c:f>Sheet1!$C$1</c:f>
              <c:strCache>
                <c:ptCount val="1"/>
                <c:pt idx="0">
                  <c:v>Квартили оборота</c:v>
                </c:pt>
              </c:strCache>
            </c:strRef>
          </c:tx>
          <c:spPr>
            <a:solidFill>
              <a:srgbClr val="C9CEDE"/>
            </a:solidFill>
            <a:effectLst/>
          </c:spPr>
          <c:invertIfNegative val="0"/>
          <c:dLbls>
            <c:numFmt formatCode="0.000" sourceLinked="0"/>
            <c:txPr>
              <a:bodyPr/>
              <a:lstStyle/>
              <a:p>
                <a:pPr>
                  <a:defRPr b="0" i="0" strike="noStrike" sz="1000" u="none">
                    <a:solidFill>
                      <a:srgbClr val="1A1A2E"/>
                    </a:solidFill>
                    <a:latin typeface="Arial"/>
                  </a:defRPr>
                </a:pPr>
              </a:p>
            </c:txPr>
            <c:showLegendKey val="0"/>
            <c:showVal val="1"/>
            <c:showCatName val="0"/>
            <c:showSerName val="0"/>
            <c:showPercent val="0"/>
            <c:showBubbleSize val="0"/>
            <c:showLeaderLines val="0"/>
          </c:dLbls>
          <c:cat>
            <c:multiLvlStrRef>
              <c:f>Sheet1!$A$2:$A$6</c:f>
              <c:multiLvlStrCache>
                <c:ptCount val="5"/>
                <c:lvl>
                  <c:pt idx="0">
                    <c:v>Средний
остаток</c:v>
                  </c:pt>
                  <c:pt idx="1">
                    <c:v>Доля снятий
в банкомате</c:v>
                  </c:pt>
                  <c:pt idx="2">
                    <c:v>Доля платежей
в интернете</c:v>
                  </c:pt>
                  <c:pt idx="3">
                    <c:v>Доля
дискреционных</c:v>
                  </c:pt>
                  <c:pt idx="4">
                    <c:v>Оборот</c:v>
                  </c:pt>
                </c:lvl>
              </c:multiLvlStrCache>
            </c:multiLvlStrRef>
          </c:cat>
          <c:val>
            <c:numRef>
              <c:f>Sheet1!$C$2:$C$6</c:f>
              <c:numCache>
                <c:formatCode>General</c:formatCode>
                <c:ptCount val="5"/>
                <c:pt idx="0">
                  <c:v>0.266</c:v>
                </c:pt>
                <c:pt idx="1">
                  <c:v>0.101</c:v>
                </c:pt>
                <c:pt idx="2">
                  <c:v>0.161</c:v>
                </c:pt>
                <c:pt idx="3">
                  <c:v>0.364</c:v>
                </c:pt>
                <c:pt idx="4">
                  <c:v>0.732</c:v>
                </c:pt>
              </c:numCache>
            </c:numRef>
          </c:val>
        </c:ser>
        <c:dLbls>
          <c:numFmt formatCode="0.000" sourceLinked="0"/>
          <c:txPr>
            <a:bodyPr/>
            <a:lstStyle/>
            <a:p>
              <a:pPr>
                <a:defRPr b="0" i="0" strike="noStrike" sz="1000" u="none">
                  <a:solidFill>
                    <a:srgbClr val="1A1A2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5F7A"/>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12700" cap="flat">
              <a:solidFill>
                <a:srgbClr val="EDEF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F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A5F7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Задача: продуктовая команда перестраивает тарифную линейку, а справочника типов клиентов не существует. Правильного ответа здесь нет — тип клиента это конструкция, которую я создаю и защищаю. Покажу три вещи: как выбрано окно наблюдения, почему классов пять, и какое решение бизнеса меняется.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Отбраковка источников — отдельный этап. Архив проверен по txn_id: он не дополняет историю, а дублирует её. Витрина 360 содержит агрегаты за всю историю, а это ровно та ловушка, о которой предупреждает задание.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Клиенты с короткой историей не выбрасываются и не смешиваются с остальными — они выносятся в отдельный тип. Это честнее: их поведение просто не успело сформироваться, и сравнивать его с двухлетним нельзя.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Доли вместо сумм — принципиальный выбор. Доля не зависит от масштаба, поэтому вторая ось несёт информацию, которой нет в первой. Отдельная доля travel со средним 0,02 это шум, а не поведение, поэтому категории укрупнены до трёх групп, каждую из которых можно назвать одной фразой.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Задание предупреждает, что ответ «столько показал локоть» не принимается. Здесь он и не нужен: три критерия сошлись на пятёрке независимо. Локоть тоже есть, но читать его надо по таблице падений, а не по картинке — на глаз кривая гладкая.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Вот главная картинка всей работы. Самый крупный тип базы — наличные повседневные, сорок один процент клиентов — приносит одиннадцать процентов дохода. А двенадцать процентов оборотистых дают почти половину. Единый тариф обслуживает обе группы одинаково.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Обороты. Платит картой постоянно и на крупные суммы — и в рознице, и в интернете. Дают почти половину всего дохода при восьмой части базы. Главный риск — уход к конкуренту с более щедрой программой. Предложение: Премиальный тариф с повышенной абонплатой и кешбэком по дискреционным категориям.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Хранители остатка. Операций мало, но на счету лежит крупная сумма. Доход идёт от размещения средств, а не от операций. Абонплата раздражает их без причины — они и так приносят банку деньги. Предложение: Бесплатное обслуживание при неснижаемом остатке, накопительный счёт, депозит.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Цифровые тратчики. Почти все платежи в интернете, траты в основном необязательные. Высокая доля интерчейнджа при самом дешёвом канале обслуживания: 7,9 тыс. стоимости снятий за полугодие против 118 тыс. у оборотистых. Предложение: Кешбэк по онлайн-покупкам, рассрочка на маркетплейсах, виртуальная карта.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Наличные повседневные. Снимает наличные в банкомате, тратит на продукты и коммуналку. Самый крупный тип базы и самый дешёвый для банка на клиента. Снятия стоят денег: либо переводим в безнал, либо перекладываем стоимость. Предложение: Сниженный лимит бесплатных снятий либо бонус за оплату картой вместо снятия.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Спящий пластик. Карта оформлена, но почти не используется. Операционный доход 4 081 сум при абонплате 15 000 — то есть 79% всего, что банк с него получает, это плата за карту, которой не пользуются. Это не прибыль, а риск ухода. Предложение: Активационная кампания либо перевод на бесплатный тариф без обслуживания.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 «выглядит стабильно», а десять чисел. Устойчивость к инициализации полная. Самое чувствительное — удаление признаков, что логично. И сразу называю слабое место: ARI такого уровня на живых данных был бы поводом усомниться.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Квартили сильны там, где построены — по обороту, паритет. Типология сильна там, где строится тариф: в структуре поведения, разрыв в два-четыре раза. Клиент с оборотом пятьдесят миллионов может быть кем угодно — снимать наличные или платить в интернете, — и квартиль этого не различает.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Важная деталь, на которой легко ошибиться: параметры стандартизации и обрезки сохраняются с обучения и применяются к новому клиенту без пересчёта. Иначе тип зависел бы от того, кто ещё пришёл в тот же день.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Механический слой посчитан из фактических помесячных данных: объём снятий сверх нового лимита, база кешбэка, порог остатка по каждому клиенту. Допущений здесь нет. Всё поведенческое вынесено в сценарии, потому что в базе один тариф и эластичность измерить не на чем. Отдельно назову риск: у наличных повседневных тариф дорожает на четыре тысячи в месяц, и это самый крупный тип базы.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Заканчиваю тем, ради чего всё делалось. Продуктовая команда собиралась делить линейку по обороту, потому что других данных не было. Типология показывает, что оборот не главная ось, что самый крупный тип базы приносит меньше всех, и что доход со спящих держится на плате за неиспользуемую карту.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600200"/>
            <a:ext cx="6766560" cy="182880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Типология</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клиентской базы</a:t>
            </a:r>
            <a:endParaRPr lang="en-US" sz="4400" dirty="0"/>
          </a:p>
        </p:txBody>
      </p:sp>
      <p:sp>
        <p:nvSpPr>
          <p:cNvPr id="3" name="Text 1"/>
          <p:cNvSpPr/>
          <p:nvPr/>
        </p:nvSpPr>
        <p:spPr>
          <a:xfrm>
            <a:off x="731520" y="3611880"/>
            <a:ext cx="6766560" cy="914400"/>
          </a:xfrm>
          <a:prstGeom prst="rect">
            <a:avLst/>
          </a:prstGeom>
          <a:noFill/>
          <a:ln/>
        </p:spPr>
        <p:txBody>
          <a:bodyPr wrap="square" lIns="0" tIns="0" rIns="0" bIns="0" rtlCol="0" anchor="ctr"/>
          <a:lstStyle/>
          <a:p>
            <a:pPr indent="0" marL="0">
              <a:lnSpc>
                <a:spcPts val="2500"/>
              </a:lnSpc>
              <a:buNone/>
            </a:pPr>
            <a:r>
              <a:rPr lang="en-US" sz="1550" dirty="0">
                <a:solidFill>
                  <a:srgbClr val="CADCFC"/>
                </a:solidFill>
                <a:latin typeface="Calibri" pitchFamily="34" charset="0"/>
                <a:ea typeface="Calibri" pitchFamily="34" charset="-122"/>
                <a:cs typeface="Calibri" pitchFamily="34" charset="-120"/>
              </a:rPr>
              <a:t>Пять типов вместо одного тарифа на всех:</a:t>
            </a:r>
            <a:endParaRPr lang="en-US" sz="1550" dirty="0"/>
          </a:p>
          <a:p>
            <a:pPr indent="0" marL="0">
              <a:lnSpc>
                <a:spcPts val="2500"/>
              </a:lnSpc>
              <a:buNone/>
            </a:pPr>
            <a:r>
              <a:rPr lang="en-US" sz="1550" dirty="0">
                <a:solidFill>
                  <a:srgbClr val="CADCFC"/>
                </a:solidFill>
                <a:latin typeface="Calibri" pitchFamily="34" charset="0"/>
                <a:ea typeface="Calibri" pitchFamily="34" charset="-122"/>
                <a:cs typeface="Calibri" pitchFamily="34" charset="-120"/>
              </a:rPr>
              <a:t>кто они, сколько приносят и что каждому предложить</a:t>
            </a:r>
            <a:endParaRPr lang="en-US" sz="1550" dirty="0"/>
          </a:p>
        </p:txBody>
      </p:sp>
      <p:sp>
        <p:nvSpPr>
          <p:cNvPr id="4" name="Text 2"/>
          <p:cNvSpPr/>
          <p:nvPr/>
        </p:nvSpPr>
        <p:spPr>
          <a:xfrm>
            <a:off x="731520" y="5120640"/>
            <a:ext cx="6766560" cy="365760"/>
          </a:xfrm>
          <a:prstGeom prst="rect">
            <a:avLst/>
          </a:prstGeom>
          <a:noFill/>
          <a:ln/>
        </p:spPr>
        <p:txBody>
          <a:bodyPr wrap="square" lIns="0" tIns="0" rIns="0" bIns="0" rtlCol="0" anchor="ctr"/>
          <a:lstStyle/>
          <a:p>
            <a:pPr indent="0" marL="0">
              <a:buNone/>
            </a:pPr>
            <a:r>
              <a:rPr lang="en-US" sz="1300" dirty="0">
                <a:solidFill>
                  <a:srgbClr val="8FA4DC"/>
                </a:solidFill>
                <a:latin typeface="Calibri" pitchFamily="34" charset="0"/>
                <a:ea typeface="Calibri" pitchFamily="34" charset="-122"/>
                <a:cs typeface="Calibri" pitchFamily="34" charset="-120"/>
              </a:rPr>
              <a:t>Академия аналитики  ·  задание 6, unsupervised</a:t>
            </a:r>
            <a:endParaRPr lang="en-US" sz="1300" dirty="0"/>
          </a:p>
        </p:txBody>
      </p:sp>
      <p:sp>
        <p:nvSpPr>
          <p:cNvPr id="5" name="Shape 3"/>
          <p:cNvSpPr/>
          <p:nvPr/>
        </p:nvSpPr>
        <p:spPr>
          <a:xfrm>
            <a:off x="8138160" y="1417320"/>
            <a:ext cx="3383280" cy="3291840"/>
          </a:xfrm>
          <a:prstGeom prst="roundRect">
            <a:avLst>
              <a:gd name="adj" fmla="val 5556"/>
            </a:avLst>
          </a:prstGeom>
          <a:solidFill>
            <a:srgbClr val="2A3576"/>
          </a:solidFill>
          <a:ln w="12700">
            <a:solidFill>
              <a:srgbClr val="3D4A94"/>
            </a:solidFill>
            <a:prstDash val="solid"/>
          </a:ln>
        </p:spPr>
      </p:sp>
      <p:sp>
        <p:nvSpPr>
          <p:cNvPr id="6" name="Text 4"/>
          <p:cNvSpPr/>
          <p:nvPr/>
        </p:nvSpPr>
        <p:spPr>
          <a:xfrm>
            <a:off x="8138160" y="1737360"/>
            <a:ext cx="3383280" cy="1051560"/>
          </a:xfrm>
          <a:prstGeom prst="rect">
            <a:avLst/>
          </a:prstGeom>
          <a:noFill/>
          <a:ln/>
        </p:spPr>
        <p:txBody>
          <a:bodyPr wrap="square" lIns="0" tIns="0" rIns="0" bIns="0" rtlCol="0" anchor="ctr"/>
          <a:lstStyle/>
          <a:p>
            <a:pPr algn="ctr" indent="0" marL="0">
              <a:buNone/>
            </a:pPr>
            <a:r>
              <a:rPr lang="en-US" sz="7000" b="1" dirty="0">
                <a:solidFill>
                  <a:srgbClr val="CADCFC"/>
                </a:solidFill>
                <a:latin typeface="Cambria" pitchFamily="34" charset="0"/>
                <a:ea typeface="Cambria" pitchFamily="34" charset="-122"/>
                <a:cs typeface="Cambria" pitchFamily="34" charset="-120"/>
              </a:rPr>
              <a:t>5</a:t>
            </a:r>
            <a:endParaRPr lang="en-US" sz="7000" dirty="0"/>
          </a:p>
        </p:txBody>
      </p:sp>
      <p:sp>
        <p:nvSpPr>
          <p:cNvPr id="7" name="Text 5"/>
          <p:cNvSpPr/>
          <p:nvPr/>
        </p:nvSpPr>
        <p:spPr>
          <a:xfrm>
            <a:off x="8138160" y="2743200"/>
            <a:ext cx="3383280" cy="320040"/>
          </a:xfrm>
          <a:prstGeom prst="rect">
            <a:avLst/>
          </a:prstGeom>
          <a:noFill/>
          <a:ln/>
        </p:spPr>
        <p:txBody>
          <a:bodyPr wrap="square" lIns="0" tIns="0" rIns="0" bIns="0" rtlCol="0" anchor="ctr"/>
          <a:lstStyle/>
          <a:p>
            <a:pPr algn="ctr" indent="0" marL="0">
              <a:buNone/>
            </a:pPr>
            <a:r>
              <a:rPr lang="en-US" sz="1300" dirty="0">
                <a:solidFill>
                  <a:srgbClr val="9FB3E8"/>
                </a:solidFill>
                <a:latin typeface="Calibri" pitchFamily="34" charset="0"/>
                <a:ea typeface="Calibri" pitchFamily="34" charset="-122"/>
                <a:cs typeface="Calibri" pitchFamily="34" charset="-120"/>
              </a:rPr>
              <a:t>типов в ядре базы</a:t>
            </a:r>
            <a:endParaRPr lang="en-US" sz="1300" dirty="0"/>
          </a:p>
        </p:txBody>
      </p:sp>
      <p:sp>
        <p:nvSpPr>
          <p:cNvPr id="8" name="Text 6"/>
          <p:cNvSpPr/>
          <p:nvPr/>
        </p:nvSpPr>
        <p:spPr>
          <a:xfrm>
            <a:off x="8138160" y="3200400"/>
            <a:ext cx="338328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0,97</a:t>
            </a:r>
            <a:endParaRPr lang="en-US" sz="3200" dirty="0"/>
          </a:p>
        </p:txBody>
      </p:sp>
      <p:sp>
        <p:nvSpPr>
          <p:cNvPr id="9" name="Text 7"/>
          <p:cNvSpPr/>
          <p:nvPr/>
        </p:nvSpPr>
        <p:spPr>
          <a:xfrm>
            <a:off x="8138160" y="3840480"/>
            <a:ext cx="3383280" cy="320040"/>
          </a:xfrm>
          <a:prstGeom prst="rect">
            <a:avLst/>
          </a:prstGeom>
          <a:noFill/>
          <a:ln/>
        </p:spPr>
        <p:txBody>
          <a:bodyPr wrap="square" lIns="0" tIns="0" rIns="0" bIns="0" rtlCol="0" anchor="ctr"/>
          <a:lstStyle/>
          <a:p>
            <a:pPr algn="ctr" indent="0" marL="0">
              <a:buNone/>
            </a:pPr>
            <a:r>
              <a:rPr lang="en-US" sz="1200" dirty="0">
                <a:solidFill>
                  <a:srgbClr val="9FB3E8"/>
                </a:solidFill>
                <a:latin typeface="Calibri" pitchFamily="34" charset="0"/>
                <a:ea typeface="Calibri" pitchFamily="34" charset="-122"/>
                <a:cs typeface="Calibri" pitchFamily="34" charset="-120"/>
              </a:rPr>
              <a:t>средний ARI устойчивости</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Данные и что искали</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Postgres, таблицы seg_, два года операций, 20 тысяч клиентов, один тариф на всех</a:t>
            </a:r>
            <a:endParaRPr lang="en-US" sz="1450" dirty="0"/>
          </a:p>
        </p:txBody>
      </p:sp>
      <p:sp>
        <p:nvSpPr>
          <p:cNvPr id="4" name="Shape 2"/>
          <p:cNvSpPr/>
          <p:nvPr/>
        </p:nvSpPr>
        <p:spPr>
          <a:xfrm>
            <a:off x="640080" y="1828800"/>
            <a:ext cx="2606040" cy="1463040"/>
          </a:xfrm>
          <a:prstGeom prst="roundRect">
            <a:avLst>
              <a:gd name="adj" fmla="val 5625"/>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5" name="Text 3"/>
          <p:cNvSpPr/>
          <p:nvPr/>
        </p:nvSpPr>
        <p:spPr>
          <a:xfrm>
            <a:off x="640080" y="1938528"/>
            <a:ext cx="260604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20 000</a:t>
            </a:r>
            <a:endParaRPr lang="en-US" sz="3600" dirty="0"/>
          </a:p>
        </p:txBody>
      </p:sp>
      <p:sp>
        <p:nvSpPr>
          <p:cNvPr id="6" name="Text 4"/>
          <p:cNvSpPr/>
          <p:nvPr/>
        </p:nvSpPr>
        <p:spPr>
          <a:xfrm>
            <a:off x="640080" y="2651760"/>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клиентов в базе</a:t>
            </a:r>
            <a:endParaRPr lang="en-US" sz="1200" dirty="0"/>
          </a:p>
        </p:txBody>
      </p:sp>
      <p:sp>
        <p:nvSpPr>
          <p:cNvPr id="7" name="Shape 5"/>
          <p:cNvSpPr/>
          <p:nvPr/>
        </p:nvSpPr>
        <p:spPr>
          <a:xfrm>
            <a:off x="3502152" y="1828800"/>
            <a:ext cx="2606040" cy="1463040"/>
          </a:xfrm>
          <a:prstGeom prst="roundRect">
            <a:avLst>
              <a:gd name="adj" fmla="val 5625"/>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8" name="Text 6"/>
          <p:cNvSpPr/>
          <p:nvPr/>
        </p:nvSpPr>
        <p:spPr>
          <a:xfrm>
            <a:off x="3502152" y="1938528"/>
            <a:ext cx="260604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12,1 млн</a:t>
            </a:r>
            <a:endParaRPr lang="en-US" sz="3600" dirty="0"/>
          </a:p>
        </p:txBody>
      </p:sp>
      <p:sp>
        <p:nvSpPr>
          <p:cNvPr id="9" name="Text 7"/>
          <p:cNvSpPr/>
          <p:nvPr/>
        </p:nvSpPr>
        <p:spPr>
          <a:xfrm>
            <a:off x="3502152" y="2651760"/>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операций за два года</a:t>
            </a:r>
            <a:endParaRPr lang="en-US" sz="1200" dirty="0"/>
          </a:p>
        </p:txBody>
      </p:sp>
      <p:sp>
        <p:nvSpPr>
          <p:cNvPr id="10" name="Shape 8"/>
          <p:cNvSpPr/>
          <p:nvPr/>
        </p:nvSpPr>
        <p:spPr>
          <a:xfrm>
            <a:off x="6364224" y="1828800"/>
            <a:ext cx="2606040" cy="1463040"/>
          </a:xfrm>
          <a:prstGeom prst="roundRect">
            <a:avLst>
              <a:gd name="adj" fmla="val 5625"/>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1" name="Text 9"/>
          <p:cNvSpPr/>
          <p:nvPr/>
        </p:nvSpPr>
        <p:spPr>
          <a:xfrm>
            <a:off x="6364224" y="1938528"/>
            <a:ext cx="260604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1</a:t>
            </a:r>
            <a:endParaRPr lang="en-US" sz="3600" dirty="0"/>
          </a:p>
        </p:txBody>
      </p:sp>
      <p:sp>
        <p:nvSpPr>
          <p:cNvPr id="12" name="Text 10"/>
          <p:cNvSpPr/>
          <p:nvPr/>
        </p:nvSpPr>
        <p:spPr>
          <a:xfrm>
            <a:off x="6364224" y="2651760"/>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тариф на всех</a:t>
            </a:r>
            <a:endParaRPr lang="en-US" sz="1200" dirty="0"/>
          </a:p>
        </p:txBody>
      </p:sp>
      <p:sp>
        <p:nvSpPr>
          <p:cNvPr id="13" name="Shape 11"/>
          <p:cNvSpPr/>
          <p:nvPr/>
        </p:nvSpPr>
        <p:spPr>
          <a:xfrm>
            <a:off x="9226296" y="1828800"/>
            <a:ext cx="2606040" cy="1463040"/>
          </a:xfrm>
          <a:prstGeom prst="roundRect">
            <a:avLst>
              <a:gd name="adj" fmla="val 5625"/>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4" name="Text 12"/>
          <p:cNvSpPr/>
          <p:nvPr/>
        </p:nvSpPr>
        <p:spPr>
          <a:xfrm>
            <a:off x="9226296" y="1938528"/>
            <a:ext cx="260604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0</a:t>
            </a:r>
            <a:endParaRPr lang="en-US" sz="3600" dirty="0"/>
          </a:p>
        </p:txBody>
      </p:sp>
      <p:sp>
        <p:nvSpPr>
          <p:cNvPr id="15" name="Text 13"/>
          <p:cNvSpPr/>
          <p:nvPr/>
        </p:nvSpPr>
        <p:spPr>
          <a:xfrm>
            <a:off x="9226296" y="2651760"/>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готовых типологий</a:t>
            </a:r>
            <a:endParaRPr lang="en-US" sz="1200" dirty="0"/>
          </a:p>
        </p:txBody>
      </p:sp>
      <p:sp>
        <p:nvSpPr>
          <p:cNvPr id="16" name="Shape 14"/>
          <p:cNvSpPr/>
          <p:nvPr/>
        </p:nvSpPr>
        <p:spPr>
          <a:xfrm>
            <a:off x="640080" y="3611880"/>
            <a:ext cx="5440680" cy="2468880"/>
          </a:xfrm>
          <a:prstGeom prst="roundRect">
            <a:avLst>
              <a:gd name="adj" fmla="val 3333"/>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7" name="Text 15"/>
          <p:cNvSpPr/>
          <p:nvPr/>
        </p:nvSpPr>
        <p:spPr>
          <a:xfrm>
            <a:off x="914400" y="3794760"/>
            <a:ext cx="493776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Что отбраковано и почему</a:t>
            </a:r>
            <a:endParaRPr lang="en-US" sz="1700" dirty="0"/>
          </a:p>
        </p:txBody>
      </p:sp>
      <p:sp>
        <p:nvSpPr>
          <p:cNvPr id="18" name="Text 16"/>
          <p:cNvSpPr/>
          <p:nvPr/>
        </p:nvSpPr>
        <p:spPr>
          <a:xfrm>
            <a:off x="914400" y="4206240"/>
            <a:ext cx="4937760" cy="173736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seg_transactions_archive — полный дубликат: все 2 718 367 строк есть в основной, плюс 79 199 задвоений внутри</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seg_customers_360 — агрегаты за всю историю, то есть ловушка с накоплением</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seg_rfm_old — чужой расчёт за неизвестный период</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crm_segment — случайная метка: группы A/B/C/D неразличимы по обороту, критерий Краскела-Уоллиса даёт p = 0,94</a:t>
            </a:r>
            <a:endParaRPr lang="en-US" sz="1250" dirty="0"/>
          </a:p>
        </p:txBody>
      </p:sp>
      <p:sp>
        <p:nvSpPr>
          <p:cNvPr id="19" name="Shape 17"/>
          <p:cNvSpPr/>
          <p:nvPr/>
        </p:nvSpPr>
        <p:spPr>
          <a:xfrm>
            <a:off x="6355080" y="3611880"/>
            <a:ext cx="5166360" cy="2468880"/>
          </a:xfrm>
          <a:prstGeom prst="roundRect">
            <a:avLst>
              <a:gd name="adj" fmla="val 3333"/>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0" name="Text 18"/>
          <p:cNvSpPr/>
          <p:nvPr/>
        </p:nvSpPr>
        <p:spPr>
          <a:xfrm>
            <a:off x="6629400" y="3794760"/>
            <a:ext cx="4663440" cy="320040"/>
          </a:xfrm>
          <a:prstGeom prst="rect">
            <a:avLst/>
          </a:prstGeom>
          <a:noFill/>
          <a:ln/>
        </p:spPr>
        <p:txBody>
          <a:bodyPr wrap="square" lIns="0" tIns="0" rIns="0" bIns="0" rtlCol="0" anchor="ctr"/>
          <a:lstStyle/>
          <a:p>
            <a:pPr indent="0" marL="0">
              <a:buNone/>
            </a:pPr>
            <a:r>
              <a:rPr lang="en-US" sz="1700" b="1" dirty="0">
                <a:solidFill>
                  <a:srgbClr val="CADCFC"/>
                </a:solidFill>
                <a:latin typeface="Cambria" pitchFamily="34" charset="0"/>
                <a:ea typeface="Cambria" pitchFamily="34" charset="-122"/>
                <a:cs typeface="Cambria" pitchFamily="34" charset="-120"/>
              </a:rPr>
              <a:t>Действующий тариф</a:t>
            </a:r>
            <a:endParaRPr lang="en-US" sz="1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29400" y="4224528"/>
          <a:ext cx="4663440" cy="914400"/>
        </p:xfrm>
        <a:graphic>
          <a:graphicData uri="http://schemas.openxmlformats.org/drawingml/2006/table">
            <a:tbl>
              <a:tblPr/>
              <a:tblGrid>
                <a:gridCol w="2743200"/>
                <a:gridCol w="1920240"/>
              </a:tblGrid>
              <a:tr h="365760">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абонентская плата</a:t>
                      </a:r>
                      <a:endParaRPr lang="en-US" sz="1300" dirty="0">
                        <a:latin typeface="Calibri" charset="0"/>
                        <a:ea typeface="Calibri" charset="0"/>
                        <a:cs typeface="Calibri" charset="0"/>
                      </a:endParaRPr>
                    </a:p>
                  </a:txBody>
                  <a:tcPr marL="91440" marR="91440" marT="45720" marB="45720" anchor="ctr">
                    <a:lnL w="6350" cap="flat" cmpd="sng" algn="ctr">
                      <a:solidFill>
                        <a:srgbClr val="3D4A94"/>
                      </a:solidFill>
                      <a:prstDash val="solid"/>
                      <a:round/>
                      <a:headEnd type="none" w="med" len="med"/>
                      <a:tailEnd type="none" w="med" len="med"/>
                    </a:lnL>
                    <a:lnR w="6350" cap="flat" cmpd="sng" algn="ctr">
                      <a:solidFill>
                        <a:srgbClr val="3D4A94"/>
                      </a:solidFill>
                      <a:prstDash val="solid"/>
                      <a:round/>
                      <a:headEnd type="none" w="med" len="med"/>
                      <a:tailEnd type="none" w="med" len="med"/>
                    </a:lnR>
                    <a:lnT w="6350" cap="flat" cmpd="sng" algn="ctr">
                      <a:solidFill>
                        <a:srgbClr val="3D4A94"/>
                      </a:solidFill>
                      <a:prstDash val="solid"/>
                      <a:round/>
                      <a:headEnd type="none" w="med" len="med"/>
                      <a:tailEnd type="none" w="med" len="med"/>
                    </a:lnT>
                    <a:lnB w="6350" cap="flat" cmpd="sng" algn="ctr">
                      <a:solidFill>
                        <a:srgbClr val="3D4A94"/>
                      </a:solidFill>
                      <a:prstDash val="solid"/>
                      <a:round/>
                      <a:headEnd type="none" w="med" len="med"/>
                      <a:tailEnd type="none" w="med" len="med"/>
                    </a:lnB>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15 000 сум/мес</a:t>
                      </a:r>
                      <a:endParaRPr lang="en-US" sz="1300" dirty="0">
                        <a:latin typeface="Calibri" charset="0"/>
                        <a:ea typeface="Calibri" charset="0"/>
                        <a:cs typeface="Calibri" charset="0"/>
                      </a:endParaRPr>
                    </a:p>
                  </a:txBody>
                  <a:tcPr marL="91440" marR="91440" marT="45720" marB="45720" anchor="ctr">
                    <a:lnL w="6350" cap="flat" cmpd="sng" algn="ctr">
                      <a:solidFill>
                        <a:srgbClr val="3D4A94"/>
                      </a:solidFill>
                      <a:prstDash val="solid"/>
                      <a:round/>
                      <a:headEnd type="none" w="med" len="med"/>
                      <a:tailEnd type="none" w="med" len="med"/>
                    </a:lnL>
                    <a:lnR w="6350" cap="flat" cmpd="sng" algn="ctr">
                      <a:solidFill>
                        <a:srgbClr val="3D4A94"/>
                      </a:solidFill>
                      <a:prstDash val="solid"/>
                      <a:round/>
                      <a:headEnd type="none" w="med" len="med"/>
                      <a:tailEnd type="none" w="med" len="med"/>
                    </a:lnR>
                    <a:lnT w="6350" cap="flat" cmpd="sng" algn="ctr">
                      <a:solidFill>
                        <a:srgbClr val="3D4A94"/>
                      </a:solidFill>
                      <a:prstDash val="solid"/>
                      <a:round/>
                      <a:headEnd type="none" w="med" len="med"/>
                      <a:tailEnd type="none" w="med" len="med"/>
                    </a:lnT>
                    <a:lnB w="6350" cap="flat" cmpd="sng" algn="ctr">
                      <a:solidFill>
                        <a:srgbClr val="3D4A94"/>
                      </a:solidFill>
                      <a:prstDash val="solid"/>
                      <a:round/>
                      <a:headEnd type="none" w="med" len="med"/>
                      <a:tailEnd type="none" w="med" len="med"/>
                    </a:lnB>
                  </a:tcPr>
                </a:tc>
              </a:tr>
              <a:tr h="365760">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бесплатные снятия</a:t>
                      </a:r>
                      <a:endParaRPr lang="en-US" sz="1300" dirty="0">
                        <a:latin typeface="Calibri" charset="0"/>
                        <a:ea typeface="Calibri" charset="0"/>
                        <a:cs typeface="Calibri" charset="0"/>
                      </a:endParaRPr>
                    </a:p>
                  </a:txBody>
                  <a:tcPr marL="91440" marR="91440" marT="45720" marB="45720" anchor="ctr">
                    <a:lnL w="6350" cap="flat" cmpd="sng" algn="ctr">
                      <a:solidFill>
                        <a:srgbClr val="3D4A94"/>
                      </a:solidFill>
                      <a:prstDash val="solid"/>
                      <a:round/>
                      <a:headEnd type="none" w="med" len="med"/>
                      <a:tailEnd type="none" w="med" len="med"/>
                    </a:lnL>
                    <a:lnR w="6350" cap="flat" cmpd="sng" algn="ctr">
                      <a:solidFill>
                        <a:srgbClr val="3D4A94"/>
                      </a:solidFill>
                      <a:prstDash val="solid"/>
                      <a:round/>
                      <a:headEnd type="none" w="med" len="med"/>
                      <a:tailEnd type="none" w="med" len="med"/>
                    </a:lnR>
                    <a:lnT w="6350" cap="flat" cmpd="sng" algn="ctr">
                      <a:solidFill>
                        <a:srgbClr val="3D4A94"/>
                      </a:solidFill>
                      <a:prstDash val="solid"/>
                      <a:round/>
                      <a:headEnd type="none" w="med" len="med"/>
                      <a:tailEnd type="none" w="med" len="med"/>
                    </a:lnT>
                    <a:lnB w="6350" cap="flat" cmpd="sng" algn="ctr">
                      <a:solidFill>
                        <a:srgbClr val="3D4A94"/>
                      </a:solidFill>
                      <a:prstDash val="solid"/>
                      <a:round/>
                      <a:headEnd type="none" w="med" len="med"/>
                      <a:tailEnd type="none" w="med" len="med"/>
                    </a:lnB>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2 000 000 сум</a:t>
                      </a:r>
                      <a:endParaRPr lang="en-US" sz="1300" dirty="0">
                        <a:latin typeface="Calibri" charset="0"/>
                        <a:ea typeface="Calibri" charset="0"/>
                        <a:cs typeface="Calibri" charset="0"/>
                      </a:endParaRPr>
                    </a:p>
                  </a:txBody>
                  <a:tcPr marL="91440" marR="91440" marT="45720" marB="45720" anchor="ctr">
                    <a:lnL w="6350" cap="flat" cmpd="sng" algn="ctr">
                      <a:solidFill>
                        <a:srgbClr val="3D4A94"/>
                      </a:solidFill>
                      <a:prstDash val="solid"/>
                      <a:round/>
                      <a:headEnd type="none" w="med" len="med"/>
                      <a:tailEnd type="none" w="med" len="med"/>
                    </a:lnL>
                    <a:lnR w="6350" cap="flat" cmpd="sng" algn="ctr">
                      <a:solidFill>
                        <a:srgbClr val="3D4A94"/>
                      </a:solidFill>
                      <a:prstDash val="solid"/>
                      <a:round/>
                      <a:headEnd type="none" w="med" len="med"/>
                      <a:tailEnd type="none" w="med" len="med"/>
                    </a:lnR>
                    <a:lnT w="6350" cap="flat" cmpd="sng" algn="ctr">
                      <a:solidFill>
                        <a:srgbClr val="3D4A94"/>
                      </a:solidFill>
                      <a:prstDash val="solid"/>
                      <a:round/>
                      <a:headEnd type="none" w="med" len="med"/>
                      <a:tailEnd type="none" w="med" len="med"/>
                    </a:lnT>
                    <a:lnB w="6350" cap="flat" cmpd="sng" algn="ctr">
                      <a:solidFill>
                        <a:srgbClr val="3D4A94"/>
                      </a:solidFill>
                      <a:prstDash val="solid"/>
                      <a:round/>
                      <a:headEnd type="none" w="med" len="med"/>
                      <a:tailEnd type="none" w="med" len="med"/>
                    </a:lnB>
                  </a:tcPr>
                </a:tc>
              </a:tr>
              <a:tr h="365760">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комиссия за перевод</a:t>
                      </a:r>
                      <a:endParaRPr lang="en-US" sz="1300" dirty="0">
                        <a:latin typeface="Calibri" charset="0"/>
                        <a:ea typeface="Calibri" charset="0"/>
                        <a:cs typeface="Calibri" charset="0"/>
                      </a:endParaRPr>
                    </a:p>
                  </a:txBody>
                  <a:tcPr marL="91440" marR="91440" marT="45720" marB="45720" anchor="ctr">
                    <a:lnL w="6350" cap="flat" cmpd="sng" algn="ctr">
                      <a:solidFill>
                        <a:srgbClr val="3D4A94"/>
                      </a:solidFill>
                      <a:prstDash val="solid"/>
                      <a:round/>
                      <a:headEnd type="none" w="med" len="med"/>
                      <a:tailEnd type="none" w="med" len="med"/>
                    </a:lnL>
                    <a:lnR w="6350" cap="flat" cmpd="sng" algn="ctr">
                      <a:solidFill>
                        <a:srgbClr val="3D4A94"/>
                      </a:solidFill>
                      <a:prstDash val="solid"/>
                      <a:round/>
                      <a:headEnd type="none" w="med" len="med"/>
                      <a:tailEnd type="none" w="med" len="med"/>
                    </a:lnR>
                    <a:lnT w="6350" cap="flat" cmpd="sng" algn="ctr">
                      <a:solidFill>
                        <a:srgbClr val="3D4A94"/>
                      </a:solidFill>
                      <a:prstDash val="solid"/>
                      <a:round/>
                      <a:headEnd type="none" w="med" len="med"/>
                      <a:tailEnd type="none" w="med" len="med"/>
                    </a:lnT>
                    <a:lnB w="6350" cap="flat" cmpd="sng" algn="ctr">
                      <a:solidFill>
                        <a:srgbClr val="3D4A94"/>
                      </a:solidFill>
                      <a:prstDash val="solid"/>
                      <a:round/>
                      <a:headEnd type="none" w="med" len="med"/>
                      <a:tailEnd type="none" w="med" len="med"/>
                    </a:lnB>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91440" marR="91440" marT="45720" marB="45720" anchor="ctr">
                    <a:lnL w="6350" cap="flat" cmpd="sng" algn="ctr">
                      <a:solidFill>
                        <a:srgbClr val="3D4A94"/>
                      </a:solidFill>
                      <a:prstDash val="solid"/>
                      <a:round/>
                      <a:headEnd type="none" w="med" len="med"/>
                      <a:tailEnd type="none" w="med" len="med"/>
                    </a:lnL>
                    <a:lnR w="6350" cap="flat" cmpd="sng" algn="ctr">
                      <a:solidFill>
                        <a:srgbClr val="3D4A94"/>
                      </a:solidFill>
                      <a:prstDash val="solid"/>
                      <a:round/>
                      <a:headEnd type="none" w="med" len="med"/>
                      <a:tailEnd type="none" w="med" len="med"/>
                    </a:lnR>
                    <a:lnT w="6350" cap="flat" cmpd="sng" algn="ctr">
                      <a:solidFill>
                        <a:srgbClr val="3D4A94"/>
                      </a:solidFill>
                      <a:prstDash val="solid"/>
                      <a:round/>
                      <a:headEnd type="none" w="med" len="med"/>
                      <a:tailEnd type="none" w="med" len="med"/>
                    </a:lnT>
                    <a:lnB w="6350" cap="flat" cmpd="sng" algn="ctr">
                      <a:solidFill>
                        <a:srgbClr val="3D4A94"/>
                      </a:solidFill>
                      <a:prstDash val="solid"/>
                      <a:round/>
                      <a:headEnd type="none" w="med" len="med"/>
                      <a:tailEnd type="none" w="med" len="med"/>
                    </a:lnB>
                  </a:tcPr>
                </a:tc>
              </a:tr>
            </a:tbl>
          </a:graphicData>
        </a:graphic>
      </p:graphicFrame>
      <p:sp>
        <p:nvSpPr>
          <p:cNvPr id="22" name="Text 19"/>
          <p:cNvSpPr/>
          <p:nvPr/>
        </p:nvSpPr>
        <p:spPr>
          <a:xfrm>
            <a:off x="6629400" y="5440680"/>
            <a:ext cx="466344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Одинаково невыгоден и тем, кто снимает наличные, и тем, кто держит остаток.</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Окно наблюдения: последние 6 месяцев</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Главная ловушка задания — разная длина истории — здесь не гипотеза, а измеренный факт</a:t>
            </a:r>
            <a:endParaRPr lang="en-US" sz="1450" dirty="0"/>
          </a:p>
        </p:txBody>
      </p:sp>
      <p:graphicFrame>
        <p:nvGraphicFramePr>
          <p:cNvPr id="4" name="Chart 0" descr=""/>
          <p:cNvGraphicFramePr/>
          <p:nvPr/>
        </p:nvGraphicFramePr>
        <p:xfrm>
          <a:off x="640080" y="1828800"/>
          <a:ext cx="6675120" cy="2377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4297680"/>
            <a:ext cx="6675120" cy="548640"/>
          </a:xfrm>
          <a:prstGeom prst="rect">
            <a:avLst/>
          </a:prstGeom>
          <a:noFill/>
          <a:ln/>
        </p:spPr>
        <p:txBody>
          <a:bodyPr wrap="square" lIns="0" tIns="0" rIns="0" bIns="0" rtlCol="0" anchor="ctr"/>
          <a:lstStyle/>
          <a:p>
            <a:pPr indent="0" marL="0">
              <a:buNone/>
            </a:pPr>
            <a:r>
              <a:rPr lang="en-US" sz="1300" i="1" dirty="0">
                <a:solidFill>
                  <a:srgbClr val="5A5F7A"/>
                </a:solidFill>
                <a:latin typeface="Calibri" pitchFamily="34" charset="0"/>
                <a:ea typeface="Calibri" pitchFamily="34" charset="-122"/>
                <a:cs typeface="Calibri" pitchFamily="34" charset="-120"/>
              </a:rPr>
              <a:t>База не росла активностью — она накапливала регистрации. Признаки за 24 месяца дали бы типологию по дате прихода.</a:t>
            </a:r>
            <a:endParaRPr lang="en-US" sz="1300" dirty="0"/>
          </a:p>
        </p:txBody>
      </p:sp>
      <p:sp>
        <p:nvSpPr>
          <p:cNvPr id="6" name="Shape 3"/>
          <p:cNvSpPr/>
          <p:nvPr/>
        </p:nvSpPr>
        <p:spPr>
          <a:xfrm>
            <a:off x="640080" y="4892040"/>
            <a:ext cx="6675120" cy="1188720"/>
          </a:xfrm>
          <a:prstGeom prst="roundRect">
            <a:avLst>
              <a:gd name="adj" fmla="val 6923"/>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7" name="Text 4"/>
          <p:cNvSpPr/>
          <p:nvPr/>
        </p:nvSpPr>
        <p:spPr>
          <a:xfrm>
            <a:off x="914400" y="5029200"/>
            <a:ext cx="621792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Выбор: 1 июля — 28 декабря 2025</a:t>
            </a:r>
            <a:endParaRPr lang="en-US" sz="1600" dirty="0"/>
          </a:p>
        </p:txBody>
      </p:sp>
      <p:sp>
        <p:nvSpPr>
          <p:cNvPr id="8" name="Text 5"/>
          <p:cNvSpPr/>
          <p:nvPr/>
        </p:nvSpPr>
        <p:spPr>
          <a:xfrm>
            <a:off x="914400" y="5394960"/>
            <a:ext cx="6217920" cy="54864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Окно покрывает 97,4% базы (при годовом было бы 90%) и достаточно длинное, чтобы доли по категориям трат не были шумом.</a:t>
            </a:r>
            <a:endParaRPr lang="en-US" sz="1250" dirty="0"/>
          </a:p>
        </p:txBody>
      </p:sp>
      <p:sp>
        <p:nvSpPr>
          <p:cNvPr id="9" name="Shape 6"/>
          <p:cNvSpPr/>
          <p:nvPr/>
        </p:nvSpPr>
        <p:spPr>
          <a:xfrm>
            <a:off x="7589520" y="1828800"/>
            <a:ext cx="3931920" cy="4251960"/>
          </a:xfrm>
          <a:prstGeom prst="roundRect">
            <a:avLst>
              <a:gd name="adj" fmla="val 2093"/>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0" name="Text 7"/>
          <p:cNvSpPr/>
          <p:nvPr/>
        </p:nvSpPr>
        <p:spPr>
          <a:xfrm>
            <a:off x="7863840" y="2011680"/>
            <a:ext cx="3429000" cy="640080"/>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Три когорты вместо усечения</a:t>
            </a:r>
            <a:endParaRPr lang="en-US" sz="1800" dirty="0"/>
          </a:p>
        </p:txBody>
      </p:sp>
      <p:sp>
        <p:nvSpPr>
          <p:cNvPr id="11" name="Text 8"/>
          <p:cNvSpPr/>
          <p:nvPr/>
        </p:nvSpPr>
        <p:spPr>
          <a:xfrm>
            <a:off x="7863840" y="2743200"/>
            <a:ext cx="3429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Ядро</a:t>
            </a:r>
            <a:endParaRPr lang="en-US" sz="1350" dirty="0"/>
          </a:p>
        </p:txBody>
      </p:sp>
      <p:sp>
        <p:nvSpPr>
          <p:cNvPr id="12" name="Text 9"/>
          <p:cNvSpPr/>
          <p:nvPr/>
        </p:nvSpPr>
        <p:spPr>
          <a:xfrm>
            <a:off x="7863840" y="2999232"/>
            <a:ext cx="3429000" cy="365760"/>
          </a:xfrm>
          <a:prstGeom prst="rect">
            <a:avLst/>
          </a:prstGeom>
          <a:noFill/>
          <a:ln/>
        </p:spPr>
        <p:txBody>
          <a:bodyPr wrap="square" lIns="0" tIns="0" rIns="0" bIns="0"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17 537</a:t>
            </a:r>
            <a:endParaRPr lang="en-US" sz="2200" dirty="0"/>
          </a:p>
        </p:txBody>
      </p:sp>
      <p:sp>
        <p:nvSpPr>
          <p:cNvPr id="13" name="Text 10"/>
          <p:cNvSpPr/>
          <p:nvPr/>
        </p:nvSpPr>
        <p:spPr>
          <a:xfrm>
            <a:off x="7863840" y="3383280"/>
            <a:ext cx="3429000" cy="274320"/>
          </a:xfrm>
          <a:prstGeom prst="rect">
            <a:avLst/>
          </a:prstGeom>
          <a:noFill/>
          <a:ln/>
        </p:spPr>
        <p:txBody>
          <a:bodyPr wrap="square" lIns="0" tIns="0" rIns="0" bIns="0" rtlCol="0" anchor="ctr"/>
          <a:lstStyle/>
          <a:p>
            <a:pPr indent="0" marL="0">
              <a:buNone/>
            </a:pPr>
            <a:r>
              <a:rPr lang="en-US" sz="1150" dirty="0">
                <a:solidFill>
                  <a:srgbClr val="9FB3E8"/>
                </a:solidFill>
                <a:latin typeface="Calibri" pitchFamily="34" charset="0"/>
                <a:ea typeface="Calibri" pitchFamily="34" charset="-122"/>
                <a:cs typeface="Calibri" pitchFamily="34" charset="-120"/>
              </a:rPr>
              <a:t>87,7% — кластеризуем</a:t>
            </a:r>
            <a:endParaRPr lang="en-US" sz="1150" dirty="0"/>
          </a:p>
        </p:txBody>
      </p:sp>
      <p:sp>
        <p:nvSpPr>
          <p:cNvPr id="14" name="Text 11"/>
          <p:cNvSpPr/>
          <p:nvPr/>
        </p:nvSpPr>
        <p:spPr>
          <a:xfrm>
            <a:off x="7863840" y="3840480"/>
            <a:ext cx="3429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Новички</a:t>
            </a:r>
            <a:endParaRPr lang="en-US" sz="1350" dirty="0"/>
          </a:p>
        </p:txBody>
      </p:sp>
      <p:sp>
        <p:nvSpPr>
          <p:cNvPr id="15" name="Text 12"/>
          <p:cNvSpPr/>
          <p:nvPr/>
        </p:nvSpPr>
        <p:spPr>
          <a:xfrm>
            <a:off x="7863840" y="4096512"/>
            <a:ext cx="3429000" cy="365760"/>
          </a:xfrm>
          <a:prstGeom prst="rect">
            <a:avLst/>
          </a:prstGeom>
          <a:noFill/>
          <a:ln/>
        </p:spPr>
        <p:txBody>
          <a:bodyPr wrap="square" lIns="0" tIns="0" rIns="0" bIns="0"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2 104</a:t>
            </a:r>
            <a:endParaRPr lang="en-US" sz="2200" dirty="0"/>
          </a:p>
        </p:txBody>
      </p:sp>
      <p:sp>
        <p:nvSpPr>
          <p:cNvPr id="16" name="Text 13"/>
          <p:cNvSpPr/>
          <p:nvPr/>
        </p:nvSpPr>
        <p:spPr>
          <a:xfrm>
            <a:off x="7863840" y="4480560"/>
            <a:ext cx="3429000" cy="274320"/>
          </a:xfrm>
          <a:prstGeom prst="rect">
            <a:avLst/>
          </a:prstGeom>
          <a:noFill/>
          <a:ln/>
        </p:spPr>
        <p:txBody>
          <a:bodyPr wrap="square" lIns="0" tIns="0" rIns="0" bIns="0" rtlCol="0" anchor="ctr"/>
          <a:lstStyle/>
          <a:p>
            <a:pPr indent="0" marL="0">
              <a:buNone/>
            </a:pPr>
            <a:r>
              <a:rPr lang="en-US" sz="1150" dirty="0">
                <a:solidFill>
                  <a:srgbClr val="9FB3E8"/>
                </a:solidFill>
                <a:latin typeface="Calibri" pitchFamily="34" charset="0"/>
                <a:ea typeface="Calibri" pitchFamily="34" charset="-122"/>
                <a:cs typeface="Calibri" pitchFamily="34" charset="-120"/>
              </a:rPr>
              <a:t>10,5% — меньше полугода истории</a:t>
            </a:r>
            <a:endParaRPr lang="en-US" sz="1150" dirty="0"/>
          </a:p>
        </p:txBody>
      </p:sp>
      <p:sp>
        <p:nvSpPr>
          <p:cNvPr id="17" name="Text 14"/>
          <p:cNvSpPr/>
          <p:nvPr/>
        </p:nvSpPr>
        <p:spPr>
          <a:xfrm>
            <a:off x="7863840" y="4937760"/>
            <a:ext cx="3429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Спящие</a:t>
            </a:r>
            <a:endParaRPr lang="en-US" sz="1350" dirty="0"/>
          </a:p>
        </p:txBody>
      </p:sp>
      <p:sp>
        <p:nvSpPr>
          <p:cNvPr id="18" name="Text 15"/>
          <p:cNvSpPr/>
          <p:nvPr/>
        </p:nvSpPr>
        <p:spPr>
          <a:xfrm>
            <a:off x="7863840" y="5193792"/>
            <a:ext cx="3429000" cy="365760"/>
          </a:xfrm>
          <a:prstGeom prst="rect">
            <a:avLst/>
          </a:prstGeom>
          <a:noFill/>
          <a:ln/>
        </p:spPr>
        <p:txBody>
          <a:bodyPr wrap="square" lIns="0" tIns="0" rIns="0" bIns="0" rtlCol="0" anchor="ctr"/>
          <a:lstStyle/>
          <a:p>
            <a:pPr indent="0" marL="0">
              <a:buNone/>
            </a:pPr>
            <a:r>
              <a:rPr lang="en-US" sz="2200" b="1" dirty="0">
                <a:solidFill>
                  <a:srgbClr val="CADCFC"/>
                </a:solidFill>
                <a:latin typeface="Cambria" pitchFamily="34" charset="0"/>
                <a:ea typeface="Cambria" pitchFamily="34" charset="-122"/>
                <a:cs typeface="Cambria" pitchFamily="34" charset="-120"/>
              </a:rPr>
              <a:t>359</a:t>
            </a:r>
            <a:endParaRPr lang="en-US" sz="2200" dirty="0"/>
          </a:p>
        </p:txBody>
      </p:sp>
      <p:sp>
        <p:nvSpPr>
          <p:cNvPr id="19" name="Text 16"/>
          <p:cNvSpPr/>
          <p:nvPr/>
        </p:nvSpPr>
        <p:spPr>
          <a:xfrm>
            <a:off x="7863840" y="5577840"/>
            <a:ext cx="3429000" cy="274320"/>
          </a:xfrm>
          <a:prstGeom prst="rect">
            <a:avLst/>
          </a:prstGeom>
          <a:noFill/>
          <a:ln/>
        </p:spPr>
        <p:txBody>
          <a:bodyPr wrap="square" lIns="0" tIns="0" rIns="0" bIns="0" rtlCol="0" anchor="ctr"/>
          <a:lstStyle/>
          <a:p>
            <a:pPr indent="0" marL="0">
              <a:buNone/>
            </a:pPr>
            <a:r>
              <a:rPr lang="en-US" sz="1150" dirty="0">
                <a:solidFill>
                  <a:srgbClr val="9FB3E8"/>
                </a:solidFill>
                <a:latin typeface="Calibri" pitchFamily="34" charset="0"/>
                <a:ea typeface="Calibri" pitchFamily="34" charset="-122"/>
                <a:cs typeface="Calibri" pitchFamily="34" charset="-120"/>
              </a:rPr>
              <a:t>1,8% — ни одной операции в окне</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Три оси, а не все колонки подряд</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Разные оси дают разные типологии — выбор нужно обосновать</a:t>
            </a:r>
            <a:endParaRPr lang="en-US" sz="1450" dirty="0"/>
          </a:p>
        </p:txBody>
      </p:sp>
      <p:sp>
        <p:nvSpPr>
          <p:cNvPr id="4" name="Shape 2"/>
          <p:cNvSpPr/>
          <p:nvPr/>
        </p:nvSpPr>
        <p:spPr>
          <a:xfrm>
            <a:off x="640080" y="1828800"/>
            <a:ext cx="3520440" cy="2103120"/>
          </a:xfrm>
          <a:prstGeom prst="roundRect">
            <a:avLst>
              <a:gd name="adj" fmla="val 3913"/>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5" name="Text 3"/>
          <p:cNvSpPr/>
          <p:nvPr/>
        </p:nvSpPr>
        <p:spPr>
          <a:xfrm>
            <a:off x="914400" y="2011680"/>
            <a:ext cx="2971800" cy="36576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Масштаб</a:t>
            </a:r>
            <a:endParaRPr lang="en-US" sz="2000" dirty="0"/>
          </a:p>
        </p:txBody>
      </p:sp>
      <p:sp>
        <p:nvSpPr>
          <p:cNvPr id="6" name="Text 4"/>
          <p:cNvSpPr/>
          <p:nvPr/>
        </p:nvSpPr>
        <p:spPr>
          <a:xfrm>
            <a:off x="914400" y="2395728"/>
            <a:ext cx="2971800" cy="274320"/>
          </a:xfrm>
          <a:prstGeom prst="rect">
            <a:avLst/>
          </a:prstGeom>
          <a:noFill/>
          <a:ln/>
        </p:spPr>
        <p:txBody>
          <a:bodyPr wrap="square" lIns="0" tIns="0" rIns="0" bIns="0" rtlCol="0" anchor="ctr"/>
          <a:lstStyle/>
          <a:p>
            <a:pPr indent="0" marL="0">
              <a:buNone/>
            </a:pPr>
            <a:r>
              <a:rPr lang="en-US" sz="1200" b="1" dirty="0">
                <a:solidFill>
                  <a:srgbClr val="C7443E"/>
                </a:solidFill>
                <a:latin typeface="Calibri" pitchFamily="34" charset="0"/>
                <a:ea typeface="Calibri" pitchFamily="34" charset="-122"/>
                <a:cs typeface="Calibri" pitchFamily="34" charset="-120"/>
              </a:rPr>
              <a:t>5 признаков</a:t>
            </a:r>
            <a:endParaRPr lang="en-US" sz="1200" dirty="0"/>
          </a:p>
        </p:txBody>
      </p:sp>
      <p:sp>
        <p:nvSpPr>
          <p:cNvPr id="7" name="Text 5"/>
          <p:cNvSpPr/>
          <p:nvPr/>
        </p:nvSpPr>
        <p:spPr>
          <a:xfrm>
            <a:off x="914400" y="2724912"/>
            <a:ext cx="2971800" cy="10972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Сколько операций и на какие суммы. От этого зависит, окупается ли абонплата.</a:t>
            </a:r>
            <a:endParaRPr lang="en-US" sz="1250" dirty="0"/>
          </a:p>
        </p:txBody>
      </p:sp>
      <p:sp>
        <p:nvSpPr>
          <p:cNvPr id="8" name="Shape 6"/>
          <p:cNvSpPr/>
          <p:nvPr/>
        </p:nvSpPr>
        <p:spPr>
          <a:xfrm>
            <a:off x="4434840" y="1828800"/>
            <a:ext cx="3520440" cy="2103120"/>
          </a:xfrm>
          <a:prstGeom prst="roundRect">
            <a:avLst>
              <a:gd name="adj" fmla="val 3913"/>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9" name="Text 7"/>
          <p:cNvSpPr/>
          <p:nvPr/>
        </p:nvSpPr>
        <p:spPr>
          <a:xfrm>
            <a:off x="4709160" y="2011680"/>
            <a:ext cx="2971800" cy="36576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Структура</a:t>
            </a:r>
            <a:endParaRPr lang="en-US" sz="2000" dirty="0"/>
          </a:p>
        </p:txBody>
      </p:sp>
      <p:sp>
        <p:nvSpPr>
          <p:cNvPr id="10" name="Text 8"/>
          <p:cNvSpPr/>
          <p:nvPr/>
        </p:nvSpPr>
        <p:spPr>
          <a:xfrm>
            <a:off x="4709160" y="2395728"/>
            <a:ext cx="2971800" cy="274320"/>
          </a:xfrm>
          <a:prstGeom prst="rect">
            <a:avLst/>
          </a:prstGeom>
          <a:noFill/>
          <a:ln/>
        </p:spPr>
        <p:txBody>
          <a:bodyPr wrap="square" lIns="0" tIns="0" rIns="0" bIns="0" rtlCol="0" anchor="ctr"/>
          <a:lstStyle/>
          <a:p>
            <a:pPr indent="0" marL="0">
              <a:buNone/>
            </a:pPr>
            <a:r>
              <a:rPr lang="en-US" sz="1200" b="1" dirty="0">
                <a:solidFill>
                  <a:srgbClr val="C7443E"/>
                </a:solidFill>
                <a:latin typeface="Calibri" pitchFamily="34" charset="0"/>
                <a:ea typeface="Calibri" pitchFamily="34" charset="-122"/>
                <a:cs typeface="Calibri" pitchFamily="34" charset="-120"/>
              </a:rPr>
              <a:t>6 признаков</a:t>
            </a:r>
            <a:endParaRPr lang="en-US" sz="1200" dirty="0"/>
          </a:p>
        </p:txBody>
      </p:sp>
      <p:sp>
        <p:nvSpPr>
          <p:cNvPr id="11" name="Text 9"/>
          <p:cNvSpPr/>
          <p:nvPr/>
        </p:nvSpPr>
        <p:spPr>
          <a:xfrm>
            <a:off x="4709160" y="2724912"/>
            <a:ext cx="2971800" cy="10972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Каналы и категории в долях, а не в суммах — поэтому не дублирует масштаб.</a:t>
            </a:r>
            <a:endParaRPr lang="en-US" sz="1250" dirty="0"/>
          </a:p>
        </p:txBody>
      </p:sp>
      <p:sp>
        <p:nvSpPr>
          <p:cNvPr id="12" name="Shape 10"/>
          <p:cNvSpPr/>
          <p:nvPr/>
        </p:nvSpPr>
        <p:spPr>
          <a:xfrm>
            <a:off x="8229600" y="1828800"/>
            <a:ext cx="3520440" cy="2103120"/>
          </a:xfrm>
          <a:prstGeom prst="roundRect">
            <a:avLst>
              <a:gd name="adj" fmla="val 3913"/>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3" name="Text 11"/>
          <p:cNvSpPr/>
          <p:nvPr/>
        </p:nvSpPr>
        <p:spPr>
          <a:xfrm>
            <a:off x="8503920" y="2011680"/>
            <a:ext cx="2971800" cy="36576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Деньги банку</a:t>
            </a:r>
            <a:endParaRPr lang="en-US" sz="2000" dirty="0"/>
          </a:p>
        </p:txBody>
      </p:sp>
      <p:sp>
        <p:nvSpPr>
          <p:cNvPr id="14" name="Text 12"/>
          <p:cNvSpPr/>
          <p:nvPr/>
        </p:nvSpPr>
        <p:spPr>
          <a:xfrm>
            <a:off x="8503920" y="2395728"/>
            <a:ext cx="2971800" cy="274320"/>
          </a:xfrm>
          <a:prstGeom prst="rect">
            <a:avLst/>
          </a:prstGeom>
          <a:noFill/>
          <a:ln/>
        </p:spPr>
        <p:txBody>
          <a:bodyPr wrap="square" lIns="0" tIns="0" rIns="0" bIns="0" rtlCol="0" anchor="ctr"/>
          <a:lstStyle/>
          <a:p>
            <a:pPr indent="0" marL="0">
              <a:buNone/>
            </a:pPr>
            <a:r>
              <a:rPr lang="en-US" sz="1200" b="1" dirty="0">
                <a:solidFill>
                  <a:srgbClr val="C7443E"/>
                </a:solidFill>
                <a:latin typeface="Calibri" pitchFamily="34" charset="0"/>
                <a:ea typeface="Calibri" pitchFamily="34" charset="-122"/>
                <a:cs typeface="Calibri" pitchFamily="34" charset="-120"/>
              </a:rPr>
              <a:t>3 признака</a:t>
            </a:r>
            <a:endParaRPr lang="en-US" sz="1200" dirty="0"/>
          </a:p>
        </p:txBody>
      </p:sp>
      <p:sp>
        <p:nvSpPr>
          <p:cNvPr id="15" name="Text 13"/>
          <p:cNvSpPr/>
          <p:nvPr/>
        </p:nvSpPr>
        <p:spPr>
          <a:xfrm>
            <a:off x="8503920" y="2724912"/>
            <a:ext cx="2971800" cy="10972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Остатки, стоимость снятий, продукты. Тариф строится вокруг того, кто сколько приносит.</a:t>
            </a:r>
            <a:endParaRPr lang="en-US" sz="1250" dirty="0"/>
          </a:p>
        </p:txBody>
      </p:sp>
      <p:sp>
        <p:nvSpPr>
          <p:cNvPr id="16" name="Shape 14"/>
          <p:cNvSpPr/>
          <p:nvPr/>
        </p:nvSpPr>
        <p:spPr>
          <a:xfrm>
            <a:off x="640080" y="4160520"/>
            <a:ext cx="10881360" cy="1920240"/>
          </a:xfrm>
          <a:prstGeom prst="roundRect">
            <a:avLst>
              <a:gd name="adj" fmla="val 4286"/>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7" name="Text 15"/>
          <p:cNvSpPr/>
          <p:nvPr/>
        </p:nvSpPr>
        <p:spPr>
          <a:xfrm>
            <a:off x="914400" y="4315968"/>
            <a:ext cx="1033272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Что сознательно не взяли</a:t>
            </a:r>
            <a:endParaRPr lang="en-US" sz="1700" dirty="0"/>
          </a:p>
        </p:txBody>
      </p:sp>
      <p:sp>
        <p:nvSpPr>
          <p:cNvPr id="18" name="Text 16"/>
          <p:cNvSpPr/>
          <p:nvPr/>
        </p:nvSpPr>
        <p:spPr>
          <a:xfrm>
            <a:off x="914400" y="4709160"/>
            <a:ext cx="10332720" cy="12344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Стаж и дату регистрации — вернули бы типологию по времени прихода, против чего задание прямо предупреждает</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Пол и регион — это анкета, а не поведение; вдобавок деление тарифа по полу это регуляторный риск</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Шестнадцать категорий трат свёрнуты в три группы: иначе структура получила бы 20 голосов из 35 и определила бы всё разбиение</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Почему пять</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Три независимые метрики указывают на одно число, содержательная проверка подтверждает</a:t>
            </a:r>
            <a:endParaRPr lang="en-US" sz="1450" dirty="0"/>
          </a:p>
        </p:txBody>
      </p:sp>
      <p:graphicFrame>
        <p:nvGraphicFramePr>
          <p:cNvPr id="4" name="Chart 0" descr=""/>
          <p:cNvGraphicFramePr/>
          <p:nvPr/>
        </p:nvGraphicFramePr>
        <p:xfrm>
          <a:off x="640080" y="1874520"/>
          <a:ext cx="66751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4343400"/>
          <a:ext cx="6675120" cy="914400"/>
        </p:xfrm>
        <a:graphic>
          <a:graphicData uri="http://schemas.openxmlformats.org/drawingml/2006/table">
            <a:tbl>
              <a:tblPr/>
              <a:tblGrid>
                <a:gridCol w="731520"/>
                <a:gridCol w="1371600"/>
                <a:gridCol w="1645920"/>
                <a:gridCol w="1737360"/>
                <a:gridCol w="118872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Силуэт</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Дэвис-Болдин</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Падение инерции</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Мин. класс</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r>
              <a:tr h="347472">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0,284</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1,390</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14,8%</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11,1%</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347472">
                <a:tc>
                  <a:txBody>
                    <a:bodyPr/>
                    <a:lstStyle/>
                    <a:p>
                      <a:pP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0,306</a:t>
                      </a:r>
                      <a:endParaRPr lang="en-US" sz="13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1,236</a:t>
                      </a:r>
                      <a:endParaRPr lang="en-US" sz="13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14,4%</a:t>
                      </a:r>
                      <a:endParaRPr lang="en-US" sz="13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300" b="1" dirty="0">
                          <a:solidFill>
                            <a:srgbClr val="1E2761"/>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347472">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0,247</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1,396</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7,5%</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9,7%</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347472">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0,252</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1,470</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dirty="0">
                          <a:solidFill>
                            <a:srgbClr val="000000"/>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250" b="1" dirty="0">
                          <a:solidFill>
                            <a:srgbClr val="C7443E"/>
                          </a:solidFill>
                          <a:latin typeface="Calibri" pitchFamily="34" charset="0"/>
                          <a:ea typeface="Calibri" pitchFamily="34" charset="-122"/>
                          <a:cs typeface="Calibri" pitchFamily="34" charset="-120"/>
                        </a:rPr>
                        <a:t>4,3%</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bl>
          </a:graphicData>
        </a:graphic>
      </p:graphicFrame>
      <p:sp>
        <p:nvSpPr>
          <p:cNvPr id="6" name="Shape 2"/>
          <p:cNvSpPr/>
          <p:nvPr/>
        </p:nvSpPr>
        <p:spPr>
          <a:xfrm>
            <a:off x="7589520" y="1874520"/>
            <a:ext cx="3931920" cy="4206240"/>
          </a:xfrm>
          <a:prstGeom prst="roundRect">
            <a:avLst>
              <a:gd name="adj" fmla="val 2093"/>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7" name="Text 3"/>
          <p:cNvSpPr/>
          <p:nvPr/>
        </p:nvSpPr>
        <p:spPr>
          <a:xfrm>
            <a:off x="7863840" y="2057400"/>
            <a:ext cx="3429000" cy="365760"/>
          </a:xfrm>
          <a:prstGeom prst="rect">
            <a:avLst/>
          </a:prstGeom>
          <a:noFill/>
          <a:ln/>
        </p:spPr>
        <p:txBody>
          <a:bodyPr wrap="square" lIns="0" tIns="0" rIns="0" bIns="0"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Три аргумента</a:t>
            </a:r>
            <a:endParaRPr lang="en-US" sz="1900" dirty="0"/>
          </a:p>
        </p:txBody>
      </p:sp>
      <p:sp>
        <p:nvSpPr>
          <p:cNvPr id="8" name="Text 4"/>
          <p:cNvSpPr/>
          <p:nvPr/>
        </p:nvSpPr>
        <p:spPr>
          <a:xfrm>
            <a:off x="7863840" y="2514600"/>
            <a:ext cx="3429000" cy="18288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Силуэт максимален ровно при k = 5 и падает на 20% при переходе к шести</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Дэвис-Болдин минимален при k = 5: классы наиболее компактны и разнесены</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Инерция ломается после пятёрки: 14–15% на класс до неё, 7,5% и меньше после</a:t>
            </a:r>
            <a:endParaRPr lang="en-US" sz="1250" dirty="0"/>
          </a:p>
        </p:txBody>
      </p:sp>
      <p:sp>
        <p:nvSpPr>
          <p:cNvPr id="9" name="Shape 5"/>
          <p:cNvSpPr/>
          <p:nvPr/>
        </p:nvSpPr>
        <p:spPr>
          <a:xfrm>
            <a:off x="7863840" y="4434840"/>
            <a:ext cx="3429000" cy="0"/>
          </a:xfrm>
          <a:prstGeom prst="line">
            <a:avLst/>
          </a:prstGeom>
          <a:noFill/>
          <a:ln w="12700">
            <a:solidFill>
              <a:srgbClr val="3D4A94"/>
            </a:solidFill>
            <a:prstDash val="solid"/>
          </a:ln>
        </p:spPr>
      </p:sp>
      <p:sp>
        <p:nvSpPr>
          <p:cNvPr id="10" name="Text 6"/>
          <p:cNvSpPr/>
          <p:nvPr/>
        </p:nvSpPr>
        <p:spPr>
          <a:xfrm>
            <a:off x="7863840" y="4572000"/>
            <a:ext cx="3429000" cy="9144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При k = 7 появляется класс на 753 человека. Задание прямо называет ошибкой строить тариф под такой сегмент.</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Пять типов и их вклад в доход</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Асимметрия, которую действующий тариф не видит</a:t>
            </a:r>
            <a:endParaRPr lang="en-US" sz="1450" dirty="0"/>
          </a:p>
        </p:txBody>
      </p:sp>
      <p:graphicFrame>
        <p:nvGraphicFramePr>
          <p:cNvPr id="4" name="Chart 0" descr=""/>
          <p:cNvGraphicFramePr/>
          <p:nvPr/>
        </p:nvGraphicFramePr>
        <p:xfrm>
          <a:off x="640080" y="1874520"/>
          <a:ext cx="73152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1874520"/>
            <a:ext cx="3291840" cy="1828800"/>
          </a:xfrm>
          <a:prstGeom prst="roundRect">
            <a:avLst>
              <a:gd name="adj" fmla="val 4500"/>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6" name="Text 3"/>
          <p:cNvSpPr/>
          <p:nvPr/>
        </p:nvSpPr>
        <p:spPr>
          <a:xfrm>
            <a:off x="8458200" y="2103120"/>
            <a:ext cx="283464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12,5%</a:t>
            </a:r>
            <a:endParaRPr lang="en-US" sz="3800" dirty="0"/>
          </a:p>
        </p:txBody>
      </p:sp>
      <p:sp>
        <p:nvSpPr>
          <p:cNvPr id="7" name="Text 4"/>
          <p:cNvSpPr/>
          <p:nvPr/>
        </p:nvSpPr>
        <p:spPr>
          <a:xfrm>
            <a:off x="8458200" y="2743200"/>
            <a:ext cx="2834640" cy="7315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клиентов дают почти половину дохода банка</a:t>
            </a:r>
            <a:endParaRPr lang="en-US" sz="1300" dirty="0"/>
          </a:p>
        </p:txBody>
      </p:sp>
      <p:sp>
        <p:nvSpPr>
          <p:cNvPr id="8" name="Shape 5"/>
          <p:cNvSpPr/>
          <p:nvPr/>
        </p:nvSpPr>
        <p:spPr>
          <a:xfrm>
            <a:off x="8229600" y="3840480"/>
            <a:ext cx="3291840" cy="1874520"/>
          </a:xfrm>
          <a:prstGeom prst="roundRect">
            <a:avLst>
              <a:gd name="adj" fmla="val 439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9" name="Text 6"/>
          <p:cNvSpPr/>
          <p:nvPr/>
        </p:nvSpPr>
        <p:spPr>
          <a:xfrm>
            <a:off x="8458200" y="4041648"/>
            <a:ext cx="2834640" cy="640080"/>
          </a:xfrm>
          <a:prstGeom prst="rect">
            <a:avLst/>
          </a:prstGeom>
          <a:noFill/>
          <a:ln/>
        </p:spPr>
        <p:txBody>
          <a:bodyPr wrap="square" lIns="0" tIns="0" rIns="0" bIns="0" rtlCol="0" anchor="ctr"/>
          <a:lstStyle/>
          <a:p>
            <a:pPr indent="0" marL="0">
              <a:buNone/>
            </a:pPr>
            <a:r>
              <a:rPr lang="en-US" sz="3800" b="1" dirty="0">
                <a:solidFill>
                  <a:srgbClr val="C7443E"/>
                </a:solidFill>
                <a:latin typeface="Cambria" pitchFamily="34" charset="0"/>
                <a:ea typeface="Cambria" pitchFamily="34" charset="-122"/>
                <a:cs typeface="Cambria" pitchFamily="34" charset="-120"/>
              </a:rPr>
              <a:t>41,1%</a:t>
            </a:r>
            <a:endParaRPr lang="en-US" sz="3800" dirty="0"/>
          </a:p>
        </p:txBody>
      </p:sp>
      <p:sp>
        <p:nvSpPr>
          <p:cNvPr id="10" name="Text 7"/>
          <p:cNvSpPr/>
          <p:nvPr/>
        </p:nvSpPr>
        <p:spPr>
          <a:xfrm>
            <a:off x="8458200" y="4681728"/>
            <a:ext cx="2834640" cy="9144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клиентов дают 11% дохода — самый крупный тип базы платит меньше всех</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772400"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Обороты</a:t>
            </a:r>
            <a:endParaRPr lang="en-US" sz="3200" dirty="0"/>
          </a:p>
        </p:txBody>
      </p:sp>
      <p:sp>
        <p:nvSpPr>
          <p:cNvPr id="3" name="Text 1"/>
          <p:cNvSpPr/>
          <p:nvPr/>
        </p:nvSpPr>
        <p:spPr>
          <a:xfrm>
            <a:off x="640080" y="1051560"/>
            <a:ext cx="7772400" cy="411480"/>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Платит картой постоянно и на крупные суммы — и в рознице, и в интернете</a:t>
            </a:r>
            <a:endParaRPr lang="en-US" sz="1450" dirty="0"/>
          </a:p>
        </p:txBody>
      </p:sp>
      <p:sp>
        <p:nvSpPr>
          <p:cNvPr id="4" name="Shape 2"/>
          <p:cNvSpPr/>
          <p:nvPr/>
        </p:nvSpPr>
        <p:spPr>
          <a:xfrm>
            <a:off x="8778240" y="457200"/>
            <a:ext cx="2743200" cy="960120"/>
          </a:xfrm>
          <a:prstGeom prst="roundRect">
            <a:avLst>
              <a:gd name="adj" fmla="val 7619"/>
            </a:avLst>
          </a:prstGeom>
          <a:solidFill>
            <a:srgbClr val="B8860B"/>
          </a:solidFill>
          <a:ln w="12700">
            <a:solidFill>
              <a:srgbClr val="B8860B"/>
            </a:solidFill>
            <a:prstDash val="solid"/>
          </a:ln>
        </p:spPr>
      </p:sp>
      <p:sp>
        <p:nvSpPr>
          <p:cNvPr id="5" name="Text 3"/>
          <p:cNvSpPr/>
          <p:nvPr/>
        </p:nvSpPr>
        <p:spPr>
          <a:xfrm>
            <a:off x="8778240" y="530352"/>
            <a:ext cx="2743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2 196</a:t>
            </a:r>
            <a:endParaRPr lang="en-US" sz="2600" dirty="0"/>
          </a:p>
        </p:txBody>
      </p:sp>
      <p:sp>
        <p:nvSpPr>
          <p:cNvPr id="6" name="Text 4"/>
          <p:cNvSpPr/>
          <p:nvPr/>
        </p:nvSpPr>
        <p:spPr>
          <a:xfrm>
            <a:off x="8778240" y="987552"/>
            <a:ext cx="274320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клиентов  ·  12,5%</a:t>
            </a:r>
            <a:endParaRPr lang="en-US" sz="1200" dirty="0"/>
          </a:p>
        </p:txBody>
      </p:sp>
      <p:sp>
        <p:nvSpPr>
          <p:cNvPr id="7" name="Shape 5"/>
          <p:cNvSpPr/>
          <p:nvPr/>
        </p:nvSpPr>
        <p:spPr>
          <a:xfrm>
            <a:off x="640080"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8" name="Text 6"/>
          <p:cNvSpPr/>
          <p:nvPr/>
        </p:nvSpPr>
        <p:spPr>
          <a:xfrm>
            <a:off x="640080"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81</a:t>
            </a:r>
            <a:endParaRPr lang="en-US" sz="2800" dirty="0"/>
          </a:p>
        </p:txBody>
      </p:sp>
      <p:sp>
        <p:nvSpPr>
          <p:cNvPr id="9" name="Text 7"/>
          <p:cNvSpPr/>
          <p:nvPr/>
        </p:nvSpPr>
        <p:spPr>
          <a:xfrm>
            <a:off x="640080"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операция в месяц</a:t>
            </a:r>
            <a:endParaRPr lang="en-US" sz="1200" dirty="0"/>
          </a:p>
        </p:txBody>
      </p:sp>
      <p:sp>
        <p:nvSpPr>
          <p:cNvPr id="10" name="Shape 8"/>
          <p:cNvSpPr/>
          <p:nvPr/>
        </p:nvSpPr>
        <p:spPr>
          <a:xfrm>
            <a:off x="3502152"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1" name="Text 9"/>
          <p:cNvSpPr/>
          <p:nvPr/>
        </p:nvSpPr>
        <p:spPr>
          <a:xfrm>
            <a:off x="3502152"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232 млн</a:t>
            </a:r>
            <a:endParaRPr lang="en-US" sz="2800" dirty="0"/>
          </a:p>
        </p:txBody>
      </p:sp>
      <p:sp>
        <p:nvSpPr>
          <p:cNvPr id="12" name="Text 10"/>
          <p:cNvSpPr/>
          <p:nvPr/>
        </p:nvSpPr>
        <p:spPr>
          <a:xfrm>
            <a:off x="3502152"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оборот за полугодие</a:t>
            </a:r>
            <a:endParaRPr lang="en-US" sz="1200" dirty="0"/>
          </a:p>
        </p:txBody>
      </p:sp>
      <p:sp>
        <p:nvSpPr>
          <p:cNvPr id="13" name="Shape 11"/>
          <p:cNvSpPr/>
          <p:nvPr/>
        </p:nvSpPr>
        <p:spPr>
          <a:xfrm>
            <a:off x="6364224"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4" name="Text 12"/>
          <p:cNvSpPr/>
          <p:nvPr/>
        </p:nvSpPr>
        <p:spPr>
          <a:xfrm>
            <a:off x="6364224"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650 тыс.</a:t>
            </a:r>
            <a:endParaRPr lang="en-US" sz="2800" dirty="0"/>
          </a:p>
        </p:txBody>
      </p:sp>
      <p:sp>
        <p:nvSpPr>
          <p:cNvPr id="15" name="Text 13"/>
          <p:cNvSpPr/>
          <p:nvPr/>
        </p:nvSpPr>
        <p:spPr>
          <a:xfrm>
            <a:off x="6364224"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средний чек</a:t>
            </a:r>
            <a:endParaRPr lang="en-US" sz="1200" dirty="0"/>
          </a:p>
        </p:txBody>
      </p:sp>
      <p:sp>
        <p:nvSpPr>
          <p:cNvPr id="16" name="Shape 14"/>
          <p:cNvSpPr/>
          <p:nvPr/>
        </p:nvSpPr>
        <p:spPr>
          <a:xfrm>
            <a:off x="9226296"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7" name="Text 15"/>
          <p:cNvSpPr/>
          <p:nvPr/>
        </p:nvSpPr>
        <p:spPr>
          <a:xfrm>
            <a:off x="9226296"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4,6 млн</a:t>
            </a:r>
            <a:endParaRPr lang="en-US" sz="2800" dirty="0"/>
          </a:p>
        </p:txBody>
      </p:sp>
      <p:sp>
        <p:nvSpPr>
          <p:cNvPr id="18" name="Text 16"/>
          <p:cNvSpPr/>
          <p:nvPr/>
        </p:nvSpPr>
        <p:spPr>
          <a:xfrm>
            <a:off x="9226296"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средний остаток</a:t>
            </a:r>
            <a:endParaRPr lang="en-US" sz="1200" dirty="0"/>
          </a:p>
        </p:txBody>
      </p:sp>
      <p:sp>
        <p:nvSpPr>
          <p:cNvPr id="19" name="Shape 17"/>
          <p:cNvSpPr/>
          <p:nvPr/>
        </p:nvSpPr>
        <p:spPr>
          <a:xfrm>
            <a:off x="640080" y="3383280"/>
            <a:ext cx="5440680" cy="2697480"/>
          </a:xfrm>
          <a:prstGeom prst="roundRect">
            <a:avLst>
              <a:gd name="adj" fmla="val 305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0" name="Text 18"/>
          <p:cNvSpPr/>
          <p:nvPr/>
        </p:nvSpPr>
        <p:spPr>
          <a:xfrm>
            <a:off x="914400" y="3566160"/>
            <a:ext cx="4937760" cy="320040"/>
          </a:xfrm>
          <a:prstGeom prst="rect">
            <a:avLst/>
          </a:prstGeom>
          <a:noFill/>
          <a:ln/>
        </p:spPr>
        <p:txBody>
          <a:bodyPr wrap="square" lIns="0" tIns="0" rIns="0" bIns="0" rtlCol="0" anchor="ctr"/>
          <a:lstStyle/>
          <a:p>
            <a:pPr indent="0" marL="0">
              <a:buNone/>
            </a:pPr>
            <a:r>
              <a:rPr lang="en-US" sz="1700" b="1" dirty="0">
                <a:solidFill>
                  <a:srgbClr val="CADCFC"/>
                </a:solidFill>
                <a:latin typeface="Cambria" pitchFamily="34" charset="0"/>
                <a:ea typeface="Cambria" pitchFamily="34" charset="-122"/>
                <a:cs typeface="Cambria" pitchFamily="34" charset="-120"/>
              </a:rPr>
              <a:t>Сколько приносит сейчас</a:t>
            </a:r>
            <a:endParaRPr lang="en-US" sz="1700" dirty="0"/>
          </a:p>
        </p:txBody>
      </p:sp>
      <p:sp>
        <p:nvSpPr>
          <p:cNvPr id="21" name="Text 19"/>
          <p:cNvSpPr/>
          <p:nvPr/>
        </p:nvSpPr>
        <p:spPr>
          <a:xfrm>
            <a:off x="914400" y="3950208"/>
            <a:ext cx="4937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400 403 сум</a:t>
            </a:r>
            <a:endParaRPr lang="en-US" sz="3000" dirty="0"/>
          </a:p>
        </p:txBody>
      </p:sp>
      <p:sp>
        <p:nvSpPr>
          <p:cNvPr id="22" name="Text 20"/>
          <p:cNvSpPr/>
          <p:nvPr/>
        </p:nvSpPr>
        <p:spPr>
          <a:xfrm>
            <a:off x="914400" y="4526280"/>
            <a:ext cx="4937760" cy="4114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операционного дохода на клиента в месяц  ·  49,2% дохода банка</a:t>
            </a:r>
            <a:endParaRPr lang="en-US" sz="1250" dirty="0"/>
          </a:p>
        </p:txBody>
      </p:sp>
      <p:sp>
        <p:nvSpPr>
          <p:cNvPr id="23" name="Shape 21"/>
          <p:cNvSpPr/>
          <p:nvPr/>
        </p:nvSpPr>
        <p:spPr>
          <a:xfrm>
            <a:off x="914400" y="5029200"/>
            <a:ext cx="4937760" cy="0"/>
          </a:xfrm>
          <a:prstGeom prst="line">
            <a:avLst/>
          </a:prstGeom>
          <a:noFill/>
          <a:ln w="12700">
            <a:solidFill>
              <a:srgbClr val="3D4A94"/>
            </a:solidFill>
            <a:prstDash val="solid"/>
          </a:ln>
        </p:spPr>
      </p:sp>
      <p:sp>
        <p:nvSpPr>
          <p:cNvPr id="24" name="Text 22"/>
          <p:cNvSpPr/>
          <p:nvPr/>
        </p:nvSpPr>
        <p:spPr>
          <a:xfrm>
            <a:off x="914400" y="5138928"/>
            <a:ext cx="4937760" cy="8229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Дают почти половину всего дохода при восьмой части базы. Главный риск — уход к конкуренту с более щедрой программой.</a:t>
            </a:r>
            <a:endParaRPr lang="en-US" sz="1250" dirty="0"/>
          </a:p>
        </p:txBody>
      </p:sp>
      <p:sp>
        <p:nvSpPr>
          <p:cNvPr id="25" name="Shape 23"/>
          <p:cNvSpPr/>
          <p:nvPr/>
        </p:nvSpPr>
        <p:spPr>
          <a:xfrm>
            <a:off x="6355080" y="3383280"/>
            <a:ext cx="5166360" cy="2697480"/>
          </a:xfrm>
          <a:prstGeom prst="roundRect">
            <a:avLst>
              <a:gd name="adj" fmla="val 3051"/>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6" name="Text 24"/>
          <p:cNvSpPr/>
          <p:nvPr/>
        </p:nvSpPr>
        <p:spPr>
          <a:xfrm>
            <a:off x="6629400" y="3566160"/>
            <a:ext cx="466344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Что предлагаем</a:t>
            </a:r>
            <a:endParaRPr lang="en-US" sz="1700" dirty="0"/>
          </a:p>
        </p:txBody>
      </p:sp>
      <p:sp>
        <p:nvSpPr>
          <p:cNvPr id="27" name="Text 25"/>
          <p:cNvSpPr/>
          <p:nvPr/>
        </p:nvSpPr>
        <p:spPr>
          <a:xfrm>
            <a:off x="6629400" y="3950208"/>
            <a:ext cx="4663440" cy="1828800"/>
          </a:xfrm>
          <a:prstGeom prst="rect">
            <a:avLst/>
          </a:prstGeom>
          <a:noFill/>
          <a:ln/>
        </p:spPr>
        <p:txBody>
          <a:bodyPr wrap="square" lIns="0" tIns="0" rIns="0" bIns="0" rtlCol="0" anchor="t"/>
          <a:lstStyle/>
          <a:p>
            <a:pPr indent="0" marL="0">
              <a:buNone/>
            </a:pPr>
            <a:r>
              <a:rPr lang="en-US" sz="1400" dirty="0">
                <a:solidFill>
                  <a:srgbClr val="1A1A2E"/>
                </a:solidFill>
                <a:latin typeface="Calibri" pitchFamily="34" charset="0"/>
                <a:ea typeface="Calibri" pitchFamily="34" charset="-122"/>
                <a:cs typeface="Calibri" pitchFamily="34" charset="-120"/>
              </a:rPr>
              <a:t>Премиальный тариф с повышенной абонплатой и кешбэком по дискреционным категориям.</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772400"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Хранители остатка</a:t>
            </a:r>
            <a:endParaRPr lang="en-US" sz="3200" dirty="0"/>
          </a:p>
        </p:txBody>
      </p:sp>
      <p:sp>
        <p:nvSpPr>
          <p:cNvPr id="3" name="Text 1"/>
          <p:cNvSpPr/>
          <p:nvPr/>
        </p:nvSpPr>
        <p:spPr>
          <a:xfrm>
            <a:off x="640080" y="1051560"/>
            <a:ext cx="7772400" cy="411480"/>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Операций мало, но на счету лежит крупная сумма</a:t>
            </a:r>
            <a:endParaRPr lang="en-US" sz="1450" dirty="0"/>
          </a:p>
        </p:txBody>
      </p:sp>
      <p:sp>
        <p:nvSpPr>
          <p:cNvPr id="4" name="Shape 2"/>
          <p:cNvSpPr/>
          <p:nvPr/>
        </p:nvSpPr>
        <p:spPr>
          <a:xfrm>
            <a:off x="8778240" y="457200"/>
            <a:ext cx="2743200" cy="960120"/>
          </a:xfrm>
          <a:prstGeom prst="roundRect">
            <a:avLst>
              <a:gd name="adj" fmla="val 7619"/>
            </a:avLst>
          </a:prstGeom>
          <a:solidFill>
            <a:srgbClr val="1E2761"/>
          </a:solidFill>
          <a:ln w="12700">
            <a:solidFill>
              <a:srgbClr val="1E2761"/>
            </a:solidFill>
            <a:prstDash val="solid"/>
          </a:ln>
        </p:spPr>
      </p:sp>
      <p:sp>
        <p:nvSpPr>
          <p:cNvPr id="5" name="Text 3"/>
          <p:cNvSpPr/>
          <p:nvPr/>
        </p:nvSpPr>
        <p:spPr>
          <a:xfrm>
            <a:off x="8778240" y="530352"/>
            <a:ext cx="2743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2 395</a:t>
            </a:r>
            <a:endParaRPr lang="en-US" sz="2600" dirty="0"/>
          </a:p>
        </p:txBody>
      </p:sp>
      <p:sp>
        <p:nvSpPr>
          <p:cNvPr id="6" name="Text 4"/>
          <p:cNvSpPr/>
          <p:nvPr/>
        </p:nvSpPr>
        <p:spPr>
          <a:xfrm>
            <a:off x="8778240" y="987552"/>
            <a:ext cx="274320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клиентов  ·  13,7%</a:t>
            </a:r>
            <a:endParaRPr lang="en-US" sz="1200" dirty="0"/>
          </a:p>
        </p:txBody>
      </p:sp>
      <p:sp>
        <p:nvSpPr>
          <p:cNvPr id="7" name="Shape 5"/>
          <p:cNvSpPr/>
          <p:nvPr/>
        </p:nvSpPr>
        <p:spPr>
          <a:xfrm>
            <a:off x="640080"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8" name="Text 6"/>
          <p:cNvSpPr/>
          <p:nvPr/>
        </p:nvSpPr>
        <p:spPr>
          <a:xfrm>
            <a:off x="640080"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9</a:t>
            </a:r>
            <a:endParaRPr lang="en-US" sz="2800" dirty="0"/>
          </a:p>
        </p:txBody>
      </p:sp>
      <p:sp>
        <p:nvSpPr>
          <p:cNvPr id="9" name="Text 7"/>
          <p:cNvSpPr/>
          <p:nvPr/>
        </p:nvSpPr>
        <p:spPr>
          <a:xfrm>
            <a:off x="640080"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операций в месяц</a:t>
            </a:r>
            <a:endParaRPr lang="en-US" sz="1200" dirty="0"/>
          </a:p>
        </p:txBody>
      </p:sp>
      <p:sp>
        <p:nvSpPr>
          <p:cNvPr id="10" name="Shape 8"/>
          <p:cNvSpPr/>
          <p:nvPr/>
        </p:nvSpPr>
        <p:spPr>
          <a:xfrm>
            <a:off x="3502152"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1" name="Text 9"/>
          <p:cNvSpPr/>
          <p:nvPr/>
        </p:nvSpPr>
        <p:spPr>
          <a:xfrm>
            <a:off x="3502152"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17,1 млн</a:t>
            </a:r>
            <a:endParaRPr lang="en-US" sz="2800" dirty="0"/>
          </a:p>
        </p:txBody>
      </p:sp>
      <p:sp>
        <p:nvSpPr>
          <p:cNvPr id="12" name="Text 10"/>
          <p:cNvSpPr/>
          <p:nvPr/>
        </p:nvSpPr>
        <p:spPr>
          <a:xfrm>
            <a:off x="3502152"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средний остаток</a:t>
            </a:r>
            <a:endParaRPr lang="en-US" sz="1200" dirty="0"/>
          </a:p>
        </p:txBody>
      </p:sp>
      <p:sp>
        <p:nvSpPr>
          <p:cNvPr id="13" name="Shape 11"/>
          <p:cNvSpPr/>
          <p:nvPr/>
        </p:nvSpPr>
        <p:spPr>
          <a:xfrm>
            <a:off x="6364224"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4" name="Text 12"/>
          <p:cNvSpPr/>
          <p:nvPr/>
        </p:nvSpPr>
        <p:spPr>
          <a:xfrm>
            <a:off x="6364224"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970 тыс.</a:t>
            </a:r>
            <a:endParaRPr lang="en-US" sz="2800" dirty="0"/>
          </a:p>
        </p:txBody>
      </p:sp>
      <p:sp>
        <p:nvSpPr>
          <p:cNvPr id="15" name="Text 13"/>
          <p:cNvSpPr/>
          <p:nvPr/>
        </p:nvSpPr>
        <p:spPr>
          <a:xfrm>
            <a:off x="6364224"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средний чек</a:t>
            </a:r>
            <a:endParaRPr lang="en-US" sz="1200" dirty="0"/>
          </a:p>
        </p:txBody>
      </p:sp>
      <p:sp>
        <p:nvSpPr>
          <p:cNvPr id="16" name="Shape 14"/>
          <p:cNvSpPr/>
          <p:nvPr/>
        </p:nvSpPr>
        <p:spPr>
          <a:xfrm>
            <a:off x="9226296"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7" name="Text 15"/>
          <p:cNvSpPr/>
          <p:nvPr/>
        </p:nvSpPr>
        <p:spPr>
          <a:xfrm>
            <a:off x="9226296"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44%</a:t>
            </a:r>
            <a:endParaRPr lang="en-US" sz="2800" dirty="0"/>
          </a:p>
        </p:txBody>
      </p:sp>
      <p:sp>
        <p:nvSpPr>
          <p:cNvPr id="18" name="Text 16"/>
          <p:cNvSpPr/>
          <p:nvPr/>
        </p:nvSpPr>
        <p:spPr>
          <a:xfrm>
            <a:off x="9226296"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трат необязательные</a:t>
            </a:r>
            <a:endParaRPr lang="en-US" sz="1200" dirty="0"/>
          </a:p>
        </p:txBody>
      </p:sp>
      <p:sp>
        <p:nvSpPr>
          <p:cNvPr id="19" name="Shape 17"/>
          <p:cNvSpPr/>
          <p:nvPr/>
        </p:nvSpPr>
        <p:spPr>
          <a:xfrm>
            <a:off x="640080" y="3383280"/>
            <a:ext cx="5440680" cy="2697480"/>
          </a:xfrm>
          <a:prstGeom prst="roundRect">
            <a:avLst>
              <a:gd name="adj" fmla="val 305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0" name="Text 18"/>
          <p:cNvSpPr/>
          <p:nvPr/>
        </p:nvSpPr>
        <p:spPr>
          <a:xfrm>
            <a:off x="914400" y="3566160"/>
            <a:ext cx="4937760" cy="320040"/>
          </a:xfrm>
          <a:prstGeom prst="rect">
            <a:avLst/>
          </a:prstGeom>
          <a:noFill/>
          <a:ln/>
        </p:spPr>
        <p:txBody>
          <a:bodyPr wrap="square" lIns="0" tIns="0" rIns="0" bIns="0" rtlCol="0" anchor="ctr"/>
          <a:lstStyle/>
          <a:p>
            <a:pPr indent="0" marL="0">
              <a:buNone/>
            </a:pPr>
            <a:r>
              <a:rPr lang="en-US" sz="1700" b="1" dirty="0">
                <a:solidFill>
                  <a:srgbClr val="CADCFC"/>
                </a:solidFill>
                <a:latin typeface="Cambria" pitchFamily="34" charset="0"/>
                <a:ea typeface="Cambria" pitchFamily="34" charset="-122"/>
                <a:cs typeface="Cambria" pitchFamily="34" charset="-120"/>
              </a:rPr>
              <a:t>Сколько приносит сейчас</a:t>
            </a:r>
            <a:endParaRPr lang="en-US" sz="1700" dirty="0"/>
          </a:p>
        </p:txBody>
      </p:sp>
      <p:sp>
        <p:nvSpPr>
          <p:cNvPr id="21" name="Text 19"/>
          <p:cNvSpPr/>
          <p:nvPr/>
        </p:nvSpPr>
        <p:spPr>
          <a:xfrm>
            <a:off x="914400" y="3950208"/>
            <a:ext cx="4937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182 613 сум</a:t>
            </a:r>
            <a:endParaRPr lang="en-US" sz="3000" dirty="0"/>
          </a:p>
        </p:txBody>
      </p:sp>
      <p:sp>
        <p:nvSpPr>
          <p:cNvPr id="22" name="Text 20"/>
          <p:cNvSpPr/>
          <p:nvPr/>
        </p:nvSpPr>
        <p:spPr>
          <a:xfrm>
            <a:off x="914400" y="4526280"/>
            <a:ext cx="4937760" cy="4114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операционного дохода на клиента в месяц  ·  24,5% дохода банка</a:t>
            </a:r>
            <a:endParaRPr lang="en-US" sz="1250" dirty="0"/>
          </a:p>
        </p:txBody>
      </p:sp>
      <p:sp>
        <p:nvSpPr>
          <p:cNvPr id="23" name="Shape 21"/>
          <p:cNvSpPr/>
          <p:nvPr/>
        </p:nvSpPr>
        <p:spPr>
          <a:xfrm>
            <a:off x="914400" y="5029200"/>
            <a:ext cx="4937760" cy="0"/>
          </a:xfrm>
          <a:prstGeom prst="line">
            <a:avLst/>
          </a:prstGeom>
          <a:noFill/>
          <a:ln w="12700">
            <a:solidFill>
              <a:srgbClr val="3D4A94"/>
            </a:solidFill>
            <a:prstDash val="solid"/>
          </a:ln>
        </p:spPr>
      </p:sp>
      <p:sp>
        <p:nvSpPr>
          <p:cNvPr id="24" name="Text 22"/>
          <p:cNvSpPr/>
          <p:nvPr/>
        </p:nvSpPr>
        <p:spPr>
          <a:xfrm>
            <a:off x="914400" y="5138928"/>
            <a:ext cx="4937760" cy="8229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Доход идёт от размещения средств, а не от операций. Абонплата раздражает их без причины — они и так приносят банку деньги.</a:t>
            </a:r>
            <a:endParaRPr lang="en-US" sz="1250" dirty="0"/>
          </a:p>
        </p:txBody>
      </p:sp>
      <p:sp>
        <p:nvSpPr>
          <p:cNvPr id="25" name="Shape 23"/>
          <p:cNvSpPr/>
          <p:nvPr/>
        </p:nvSpPr>
        <p:spPr>
          <a:xfrm>
            <a:off x="6355080" y="3383280"/>
            <a:ext cx="5166360" cy="2697480"/>
          </a:xfrm>
          <a:prstGeom prst="roundRect">
            <a:avLst>
              <a:gd name="adj" fmla="val 3051"/>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6" name="Text 24"/>
          <p:cNvSpPr/>
          <p:nvPr/>
        </p:nvSpPr>
        <p:spPr>
          <a:xfrm>
            <a:off x="6629400" y="3566160"/>
            <a:ext cx="466344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Что предлагаем</a:t>
            </a:r>
            <a:endParaRPr lang="en-US" sz="1700" dirty="0"/>
          </a:p>
        </p:txBody>
      </p:sp>
      <p:sp>
        <p:nvSpPr>
          <p:cNvPr id="27" name="Text 25"/>
          <p:cNvSpPr/>
          <p:nvPr/>
        </p:nvSpPr>
        <p:spPr>
          <a:xfrm>
            <a:off x="6629400" y="3950208"/>
            <a:ext cx="4663440" cy="1828800"/>
          </a:xfrm>
          <a:prstGeom prst="rect">
            <a:avLst/>
          </a:prstGeom>
          <a:noFill/>
          <a:ln/>
        </p:spPr>
        <p:txBody>
          <a:bodyPr wrap="square" lIns="0" tIns="0" rIns="0" bIns="0" rtlCol="0" anchor="t"/>
          <a:lstStyle/>
          <a:p>
            <a:pPr indent="0" marL="0">
              <a:buNone/>
            </a:pPr>
            <a:r>
              <a:rPr lang="en-US" sz="1400" dirty="0">
                <a:solidFill>
                  <a:srgbClr val="1A1A2E"/>
                </a:solidFill>
                <a:latin typeface="Calibri" pitchFamily="34" charset="0"/>
                <a:ea typeface="Calibri" pitchFamily="34" charset="-122"/>
                <a:cs typeface="Calibri" pitchFamily="34" charset="-120"/>
              </a:rPr>
              <a:t>Бесплатное обслуживание при неснижаемом остатке, накопительный счёт, депозит.</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772400"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Цифровые тратчики</a:t>
            </a:r>
            <a:endParaRPr lang="en-US" sz="3200" dirty="0"/>
          </a:p>
        </p:txBody>
      </p:sp>
      <p:sp>
        <p:nvSpPr>
          <p:cNvPr id="3" name="Text 1"/>
          <p:cNvSpPr/>
          <p:nvPr/>
        </p:nvSpPr>
        <p:spPr>
          <a:xfrm>
            <a:off x="640080" y="1051560"/>
            <a:ext cx="7772400" cy="411480"/>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Почти все платежи в интернете, траты в основном необязательные</a:t>
            </a:r>
            <a:endParaRPr lang="en-US" sz="1450" dirty="0"/>
          </a:p>
        </p:txBody>
      </p:sp>
      <p:sp>
        <p:nvSpPr>
          <p:cNvPr id="4" name="Shape 2"/>
          <p:cNvSpPr/>
          <p:nvPr/>
        </p:nvSpPr>
        <p:spPr>
          <a:xfrm>
            <a:off x="8778240" y="457200"/>
            <a:ext cx="2743200" cy="960120"/>
          </a:xfrm>
          <a:prstGeom prst="roundRect">
            <a:avLst>
              <a:gd name="adj" fmla="val 7619"/>
            </a:avLst>
          </a:prstGeom>
          <a:solidFill>
            <a:srgbClr val="1E2761"/>
          </a:solidFill>
          <a:ln w="12700">
            <a:solidFill>
              <a:srgbClr val="1E2761"/>
            </a:solidFill>
            <a:prstDash val="solid"/>
          </a:ln>
        </p:spPr>
      </p:sp>
      <p:sp>
        <p:nvSpPr>
          <p:cNvPr id="5" name="Text 3"/>
          <p:cNvSpPr/>
          <p:nvPr/>
        </p:nvSpPr>
        <p:spPr>
          <a:xfrm>
            <a:off x="8778240" y="530352"/>
            <a:ext cx="2743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3 788</a:t>
            </a:r>
            <a:endParaRPr lang="en-US" sz="2600" dirty="0"/>
          </a:p>
        </p:txBody>
      </p:sp>
      <p:sp>
        <p:nvSpPr>
          <p:cNvPr id="6" name="Text 4"/>
          <p:cNvSpPr/>
          <p:nvPr/>
        </p:nvSpPr>
        <p:spPr>
          <a:xfrm>
            <a:off x="8778240" y="987552"/>
            <a:ext cx="274320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клиентов  ·  21,6%</a:t>
            </a:r>
            <a:endParaRPr lang="en-US" sz="1200" dirty="0"/>
          </a:p>
        </p:txBody>
      </p:sp>
      <p:sp>
        <p:nvSpPr>
          <p:cNvPr id="7" name="Shape 5"/>
          <p:cNvSpPr/>
          <p:nvPr/>
        </p:nvSpPr>
        <p:spPr>
          <a:xfrm>
            <a:off x="640080"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8" name="Text 6"/>
          <p:cNvSpPr/>
          <p:nvPr/>
        </p:nvSpPr>
        <p:spPr>
          <a:xfrm>
            <a:off x="640080"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48</a:t>
            </a:r>
            <a:endParaRPr lang="en-US" sz="2800" dirty="0"/>
          </a:p>
        </p:txBody>
      </p:sp>
      <p:sp>
        <p:nvSpPr>
          <p:cNvPr id="9" name="Text 7"/>
          <p:cNvSpPr/>
          <p:nvPr/>
        </p:nvSpPr>
        <p:spPr>
          <a:xfrm>
            <a:off x="640080"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операций в месяц</a:t>
            </a:r>
            <a:endParaRPr lang="en-US" sz="1200" dirty="0"/>
          </a:p>
        </p:txBody>
      </p:sp>
      <p:sp>
        <p:nvSpPr>
          <p:cNvPr id="10" name="Shape 8"/>
          <p:cNvSpPr/>
          <p:nvPr/>
        </p:nvSpPr>
        <p:spPr>
          <a:xfrm>
            <a:off x="3502152"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1" name="Text 9"/>
          <p:cNvSpPr/>
          <p:nvPr/>
        </p:nvSpPr>
        <p:spPr>
          <a:xfrm>
            <a:off x="3502152"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47%</a:t>
            </a:r>
            <a:endParaRPr lang="en-US" sz="2800" dirty="0"/>
          </a:p>
        </p:txBody>
      </p:sp>
      <p:sp>
        <p:nvSpPr>
          <p:cNvPr id="12" name="Text 10"/>
          <p:cNvSpPr/>
          <p:nvPr/>
        </p:nvSpPr>
        <p:spPr>
          <a:xfrm>
            <a:off x="3502152"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платежей в интернете</a:t>
            </a:r>
            <a:endParaRPr lang="en-US" sz="1200" dirty="0"/>
          </a:p>
        </p:txBody>
      </p:sp>
      <p:sp>
        <p:nvSpPr>
          <p:cNvPr id="13" name="Shape 11"/>
          <p:cNvSpPr/>
          <p:nvPr/>
        </p:nvSpPr>
        <p:spPr>
          <a:xfrm>
            <a:off x="6364224"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4" name="Text 12"/>
          <p:cNvSpPr/>
          <p:nvPr/>
        </p:nvSpPr>
        <p:spPr>
          <a:xfrm>
            <a:off x="6364224"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49%</a:t>
            </a:r>
            <a:endParaRPr lang="en-US" sz="2800" dirty="0"/>
          </a:p>
        </p:txBody>
      </p:sp>
      <p:sp>
        <p:nvSpPr>
          <p:cNvPr id="15" name="Text 13"/>
          <p:cNvSpPr/>
          <p:nvPr/>
        </p:nvSpPr>
        <p:spPr>
          <a:xfrm>
            <a:off x="6364224"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трат дискреционные</a:t>
            </a:r>
            <a:endParaRPr lang="en-US" sz="1200" dirty="0"/>
          </a:p>
        </p:txBody>
      </p:sp>
      <p:sp>
        <p:nvSpPr>
          <p:cNvPr id="16" name="Shape 14"/>
          <p:cNvSpPr/>
          <p:nvPr/>
        </p:nvSpPr>
        <p:spPr>
          <a:xfrm>
            <a:off x="9226296"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7" name="Text 15"/>
          <p:cNvSpPr/>
          <p:nvPr/>
        </p:nvSpPr>
        <p:spPr>
          <a:xfrm>
            <a:off x="9226296"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168 тыс.</a:t>
            </a:r>
            <a:endParaRPr lang="en-US" sz="2800" dirty="0"/>
          </a:p>
        </p:txBody>
      </p:sp>
      <p:sp>
        <p:nvSpPr>
          <p:cNvPr id="18" name="Text 16"/>
          <p:cNvSpPr/>
          <p:nvPr/>
        </p:nvSpPr>
        <p:spPr>
          <a:xfrm>
            <a:off x="9226296"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средний чек</a:t>
            </a:r>
            <a:endParaRPr lang="en-US" sz="1200" dirty="0"/>
          </a:p>
        </p:txBody>
      </p:sp>
      <p:sp>
        <p:nvSpPr>
          <p:cNvPr id="19" name="Shape 17"/>
          <p:cNvSpPr/>
          <p:nvPr/>
        </p:nvSpPr>
        <p:spPr>
          <a:xfrm>
            <a:off x="640080" y="3383280"/>
            <a:ext cx="5440680" cy="2697480"/>
          </a:xfrm>
          <a:prstGeom prst="roundRect">
            <a:avLst>
              <a:gd name="adj" fmla="val 305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0" name="Text 18"/>
          <p:cNvSpPr/>
          <p:nvPr/>
        </p:nvSpPr>
        <p:spPr>
          <a:xfrm>
            <a:off x="914400" y="3566160"/>
            <a:ext cx="4937760" cy="320040"/>
          </a:xfrm>
          <a:prstGeom prst="rect">
            <a:avLst/>
          </a:prstGeom>
          <a:noFill/>
          <a:ln/>
        </p:spPr>
        <p:txBody>
          <a:bodyPr wrap="square" lIns="0" tIns="0" rIns="0" bIns="0" rtlCol="0" anchor="ctr"/>
          <a:lstStyle/>
          <a:p>
            <a:pPr indent="0" marL="0">
              <a:buNone/>
            </a:pPr>
            <a:r>
              <a:rPr lang="en-US" sz="1700" b="1" dirty="0">
                <a:solidFill>
                  <a:srgbClr val="CADCFC"/>
                </a:solidFill>
                <a:latin typeface="Cambria" pitchFamily="34" charset="0"/>
                <a:ea typeface="Cambria" pitchFamily="34" charset="-122"/>
                <a:cs typeface="Cambria" pitchFamily="34" charset="-120"/>
              </a:rPr>
              <a:t>Сколько приносит сейчас</a:t>
            </a:r>
            <a:endParaRPr lang="en-US" sz="1700" dirty="0"/>
          </a:p>
        </p:txBody>
      </p:sp>
      <p:sp>
        <p:nvSpPr>
          <p:cNvPr id="21" name="Text 19"/>
          <p:cNvSpPr/>
          <p:nvPr/>
        </p:nvSpPr>
        <p:spPr>
          <a:xfrm>
            <a:off x="914400" y="3950208"/>
            <a:ext cx="4937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70 554 сум</a:t>
            </a:r>
            <a:endParaRPr lang="en-US" sz="3000" dirty="0"/>
          </a:p>
        </p:txBody>
      </p:sp>
      <p:sp>
        <p:nvSpPr>
          <p:cNvPr id="22" name="Text 20"/>
          <p:cNvSpPr/>
          <p:nvPr/>
        </p:nvSpPr>
        <p:spPr>
          <a:xfrm>
            <a:off x="914400" y="4526280"/>
            <a:ext cx="4937760" cy="4114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операционного дохода на клиента в месяц  ·  14,9% дохода банка</a:t>
            </a:r>
            <a:endParaRPr lang="en-US" sz="1250" dirty="0"/>
          </a:p>
        </p:txBody>
      </p:sp>
      <p:sp>
        <p:nvSpPr>
          <p:cNvPr id="23" name="Shape 21"/>
          <p:cNvSpPr/>
          <p:nvPr/>
        </p:nvSpPr>
        <p:spPr>
          <a:xfrm>
            <a:off x="914400" y="5029200"/>
            <a:ext cx="4937760" cy="0"/>
          </a:xfrm>
          <a:prstGeom prst="line">
            <a:avLst/>
          </a:prstGeom>
          <a:noFill/>
          <a:ln w="12700">
            <a:solidFill>
              <a:srgbClr val="3D4A94"/>
            </a:solidFill>
            <a:prstDash val="solid"/>
          </a:ln>
        </p:spPr>
      </p:sp>
      <p:sp>
        <p:nvSpPr>
          <p:cNvPr id="24" name="Text 22"/>
          <p:cNvSpPr/>
          <p:nvPr/>
        </p:nvSpPr>
        <p:spPr>
          <a:xfrm>
            <a:off x="914400" y="5138928"/>
            <a:ext cx="4937760" cy="8229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Высокая доля интерчейнджа при самом дешёвом канале обслуживания: 7,9 тыс. стоимости снятий за полугодие против 118 тыс. у оборотистых.</a:t>
            </a:r>
            <a:endParaRPr lang="en-US" sz="1250" dirty="0"/>
          </a:p>
        </p:txBody>
      </p:sp>
      <p:sp>
        <p:nvSpPr>
          <p:cNvPr id="25" name="Shape 23"/>
          <p:cNvSpPr/>
          <p:nvPr/>
        </p:nvSpPr>
        <p:spPr>
          <a:xfrm>
            <a:off x="6355080" y="3383280"/>
            <a:ext cx="5166360" cy="2697480"/>
          </a:xfrm>
          <a:prstGeom prst="roundRect">
            <a:avLst>
              <a:gd name="adj" fmla="val 3051"/>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6" name="Text 24"/>
          <p:cNvSpPr/>
          <p:nvPr/>
        </p:nvSpPr>
        <p:spPr>
          <a:xfrm>
            <a:off x="6629400" y="3566160"/>
            <a:ext cx="466344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Что предлагаем</a:t>
            </a:r>
            <a:endParaRPr lang="en-US" sz="1700" dirty="0"/>
          </a:p>
        </p:txBody>
      </p:sp>
      <p:sp>
        <p:nvSpPr>
          <p:cNvPr id="27" name="Text 25"/>
          <p:cNvSpPr/>
          <p:nvPr/>
        </p:nvSpPr>
        <p:spPr>
          <a:xfrm>
            <a:off x="6629400" y="3950208"/>
            <a:ext cx="4663440" cy="1828800"/>
          </a:xfrm>
          <a:prstGeom prst="rect">
            <a:avLst/>
          </a:prstGeom>
          <a:noFill/>
          <a:ln/>
        </p:spPr>
        <p:txBody>
          <a:bodyPr wrap="square" lIns="0" tIns="0" rIns="0" bIns="0" rtlCol="0" anchor="t"/>
          <a:lstStyle/>
          <a:p>
            <a:pPr indent="0" marL="0">
              <a:buNone/>
            </a:pPr>
            <a:r>
              <a:rPr lang="en-US" sz="1400" dirty="0">
                <a:solidFill>
                  <a:srgbClr val="1A1A2E"/>
                </a:solidFill>
                <a:latin typeface="Calibri" pitchFamily="34" charset="0"/>
                <a:ea typeface="Calibri" pitchFamily="34" charset="-122"/>
                <a:cs typeface="Calibri" pitchFamily="34" charset="-120"/>
              </a:rPr>
              <a:t>Кешбэк по онлайн-покупкам, рассрочка на маркетплейсах, виртуальная карта.</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772400"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Наличные повседневные</a:t>
            </a:r>
            <a:endParaRPr lang="en-US" sz="3200" dirty="0"/>
          </a:p>
        </p:txBody>
      </p:sp>
      <p:sp>
        <p:nvSpPr>
          <p:cNvPr id="3" name="Text 1"/>
          <p:cNvSpPr/>
          <p:nvPr/>
        </p:nvSpPr>
        <p:spPr>
          <a:xfrm>
            <a:off x="640080" y="1051560"/>
            <a:ext cx="7772400" cy="411480"/>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Снимает наличные в банкомате, тратит на продукты и коммуналку</a:t>
            </a:r>
            <a:endParaRPr lang="en-US" sz="1450" dirty="0"/>
          </a:p>
        </p:txBody>
      </p:sp>
      <p:sp>
        <p:nvSpPr>
          <p:cNvPr id="4" name="Shape 2"/>
          <p:cNvSpPr/>
          <p:nvPr/>
        </p:nvSpPr>
        <p:spPr>
          <a:xfrm>
            <a:off x="8778240" y="457200"/>
            <a:ext cx="2743200" cy="960120"/>
          </a:xfrm>
          <a:prstGeom prst="roundRect">
            <a:avLst>
              <a:gd name="adj" fmla="val 7619"/>
            </a:avLst>
          </a:prstGeom>
          <a:solidFill>
            <a:srgbClr val="C7443E"/>
          </a:solidFill>
          <a:ln w="12700">
            <a:solidFill>
              <a:srgbClr val="C7443E"/>
            </a:solidFill>
            <a:prstDash val="solid"/>
          </a:ln>
        </p:spPr>
      </p:sp>
      <p:sp>
        <p:nvSpPr>
          <p:cNvPr id="5" name="Text 3"/>
          <p:cNvSpPr/>
          <p:nvPr/>
        </p:nvSpPr>
        <p:spPr>
          <a:xfrm>
            <a:off x="8778240" y="530352"/>
            <a:ext cx="2743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7 212</a:t>
            </a:r>
            <a:endParaRPr lang="en-US" sz="2600" dirty="0"/>
          </a:p>
        </p:txBody>
      </p:sp>
      <p:sp>
        <p:nvSpPr>
          <p:cNvPr id="6" name="Text 4"/>
          <p:cNvSpPr/>
          <p:nvPr/>
        </p:nvSpPr>
        <p:spPr>
          <a:xfrm>
            <a:off x="8778240" y="987552"/>
            <a:ext cx="274320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клиентов  ·  41,1%</a:t>
            </a:r>
            <a:endParaRPr lang="en-US" sz="1200" dirty="0"/>
          </a:p>
        </p:txBody>
      </p:sp>
      <p:sp>
        <p:nvSpPr>
          <p:cNvPr id="7" name="Shape 5"/>
          <p:cNvSpPr/>
          <p:nvPr/>
        </p:nvSpPr>
        <p:spPr>
          <a:xfrm>
            <a:off x="640080"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8" name="Text 6"/>
          <p:cNvSpPr/>
          <p:nvPr/>
        </p:nvSpPr>
        <p:spPr>
          <a:xfrm>
            <a:off x="640080"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14</a:t>
            </a:r>
            <a:endParaRPr lang="en-US" sz="2800" dirty="0"/>
          </a:p>
        </p:txBody>
      </p:sp>
      <p:sp>
        <p:nvSpPr>
          <p:cNvPr id="9" name="Text 7"/>
          <p:cNvSpPr/>
          <p:nvPr/>
        </p:nvSpPr>
        <p:spPr>
          <a:xfrm>
            <a:off x="640080"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операций в месяц</a:t>
            </a:r>
            <a:endParaRPr lang="en-US" sz="1200" dirty="0"/>
          </a:p>
        </p:txBody>
      </p:sp>
      <p:sp>
        <p:nvSpPr>
          <p:cNvPr id="10" name="Shape 8"/>
          <p:cNvSpPr/>
          <p:nvPr/>
        </p:nvSpPr>
        <p:spPr>
          <a:xfrm>
            <a:off x="3502152"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1" name="Text 9"/>
          <p:cNvSpPr/>
          <p:nvPr/>
        </p:nvSpPr>
        <p:spPr>
          <a:xfrm>
            <a:off x="3502152"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38%</a:t>
            </a:r>
            <a:endParaRPr lang="en-US" sz="2800" dirty="0"/>
          </a:p>
        </p:txBody>
      </p:sp>
      <p:sp>
        <p:nvSpPr>
          <p:cNvPr id="12" name="Text 10"/>
          <p:cNvSpPr/>
          <p:nvPr/>
        </p:nvSpPr>
        <p:spPr>
          <a:xfrm>
            <a:off x="3502152"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операций — снятия</a:t>
            </a:r>
            <a:endParaRPr lang="en-US" sz="1200" dirty="0"/>
          </a:p>
        </p:txBody>
      </p:sp>
      <p:sp>
        <p:nvSpPr>
          <p:cNvPr id="13" name="Shape 11"/>
          <p:cNvSpPr/>
          <p:nvPr/>
        </p:nvSpPr>
        <p:spPr>
          <a:xfrm>
            <a:off x="6364224"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4" name="Text 12"/>
          <p:cNvSpPr/>
          <p:nvPr/>
        </p:nvSpPr>
        <p:spPr>
          <a:xfrm>
            <a:off x="6364224"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46%</a:t>
            </a:r>
            <a:endParaRPr lang="en-US" sz="2800" dirty="0"/>
          </a:p>
        </p:txBody>
      </p:sp>
      <p:sp>
        <p:nvSpPr>
          <p:cNvPr id="15" name="Text 13"/>
          <p:cNvSpPr/>
          <p:nvPr/>
        </p:nvSpPr>
        <p:spPr>
          <a:xfrm>
            <a:off x="6364224"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трат повседневные</a:t>
            </a:r>
            <a:endParaRPr lang="en-US" sz="1200" dirty="0"/>
          </a:p>
        </p:txBody>
      </p:sp>
      <p:sp>
        <p:nvSpPr>
          <p:cNvPr id="16" name="Shape 14"/>
          <p:cNvSpPr/>
          <p:nvPr/>
        </p:nvSpPr>
        <p:spPr>
          <a:xfrm>
            <a:off x="9226296"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7" name="Text 15"/>
          <p:cNvSpPr/>
          <p:nvPr/>
        </p:nvSpPr>
        <p:spPr>
          <a:xfrm>
            <a:off x="9226296"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8%</a:t>
            </a:r>
            <a:endParaRPr lang="en-US" sz="2800" dirty="0"/>
          </a:p>
        </p:txBody>
      </p:sp>
      <p:sp>
        <p:nvSpPr>
          <p:cNvPr id="18" name="Text 16"/>
          <p:cNvSpPr/>
          <p:nvPr/>
        </p:nvSpPr>
        <p:spPr>
          <a:xfrm>
            <a:off x="9226296"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платежей в интернете</a:t>
            </a:r>
            <a:endParaRPr lang="en-US" sz="1200" dirty="0"/>
          </a:p>
        </p:txBody>
      </p:sp>
      <p:sp>
        <p:nvSpPr>
          <p:cNvPr id="19" name="Shape 17"/>
          <p:cNvSpPr/>
          <p:nvPr/>
        </p:nvSpPr>
        <p:spPr>
          <a:xfrm>
            <a:off x="640080" y="3383280"/>
            <a:ext cx="5440680" cy="2697480"/>
          </a:xfrm>
          <a:prstGeom prst="roundRect">
            <a:avLst>
              <a:gd name="adj" fmla="val 305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0" name="Text 18"/>
          <p:cNvSpPr/>
          <p:nvPr/>
        </p:nvSpPr>
        <p:spPr>
          <a:xfrm>
            <a:off x="914400" y="3566160"/>
            <a:ext cx="4937760" cy="320040"/>
          </a:xfrm>
          <a:prstGeom prst="rect">
            <a:avLst/>
          </a:prstGeom>
          <a:noFill/>
          <a:ln/>
        </p:spPr>
        <p:txBody>
          <a:bodyPr wrap="square" lIns="0" tIns="0" rIns="0" bIns="0" rtlCol="0" anchor="ctr"/>
          <a:lstStyle/>
          <a:p>
            <a:pPr indent="0" marL="0">
              <a:buNone/>
            </a:pPr>
            <a:r>
              <a:rPr lang="en-US" sz="1700" b="1" dirty="0">
                <a:solidFill>
                  <a:srgbClr val="CADCFC"/>
                </a:solidFill>
                <a:latin typeface="Cambria" pitchFamily="34" charset="0"/>
                <a:ea typeface="Cambria" pitchFamily="34" charset="-122"/>
                <a:cs typeface="Cambria" pitchFamily="34" charset="-120"/>
              </a:rPr>
              <a:t>Сколько приносит сейчас</a:t>
            </a:r>
            <a:endParaRPr lang="en-US" sz="1700" dirty="0"/>
          </a:p>
        </p:txBody>
      </p:sp>
      <p:sp>
        <p:nvSpPr>
          <p:cNvPr id="21" name="Text 19"/>
          <p:cNvSpPr/>
          <p:nvPr/>
        </p:nvSpPr>
        <p:spPr>
          <a:xfrm>
            <a:off x="914400" y="3950208"/>
            <a:ext cx="4937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27 218 сум</a:t>
            </a:r>
            <a:endParaRPr lang="en-US" sz="3000" dirty="0"/>
          </a:p>
        </p:txBody>
      </p:sp>
      <p:sp>
        <p:nvSpPr>
          <p:cNvPr id="22" name="Text 20"/>
          <p:cNvSpPr/>
          <p:nvPr/>
        </p:nvSpPr>
        <p:spPr>
          <a:xfrm>
            <a:off x="914400" y="4526280"/>
            <a:ext cx="4937760" cy="4114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операционного дохода на клиента в месяц  ·  11,0% дохода банка</a:t>
            </a:r>
            <a:endParaRPr lang="en-US" sz="1250" dirty="0"/>
          </a:p>
        </p:txBody>
      </p:sp>
      <p:sp>
        <p:nvSpPr>
          <p:cNvPr id="23" name="Shape 21"/>
          <p:cNvSpPr/>
          <p:nvPr/>
        </p:nvSpPr>
        <p:spPr>
          <a:xfrm>
            <a:off x="914400" y="5029200"/>
            <a:ext cx="4937760" cy="0"/>
          </a:xfrm>
          <a:prstGeom prst="line">
            <a:avLst/>
          </a:prstGeom>
          <a:noFill/>
          <a:ln w="12700">
            <a:solidFill>
              <a:srgbClr val="3D4A94"/>
            </a:solidFill>
            <a:prstDash val="solid"/>
          </a:ln>
        </p:spPr>
      </p:sp>
      <p:sp>
        <p:nvSpPr>
          <p:cNvPr id="24" name="Text 22"/>
          <p:cNvSpPr/>
          <p:nvPr/>
        </p:nvSpPr>
        <p:spPr>
          <a:xfrm>
            <a:off x="914400" y="5138928"/>
            <a:ext cx="4937760" cy="8229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Самый крупный тип базы и самый дешёвый для банка на клиента. Снятия стоят денег: либо переводим в безнал, либо перекладываем стоимость.</a:t>
            </a:r>
            <a:endParaRPr lang="en-US" sz="1250" dirty="0"/>
          </a:p>
        </p:txBody>
      </p:sp>
      <p:sp>
        <p:nvSpPr>
          <p:cNvPr id="25" name="Shape 23"/>
          <p:cNvSpPr/>
          <p:nvPr/>
        </p:nvSpPr>
        <p:spPr>
          <a:xfrm>
            <a:off x="6355080" y="3383280"/>
            <a:ext cx="5166360" cy="2697480"/>
          </a:xfrm>
          <a:prstGeom prst="roundRect">
            <a:avLst>
              <a:gd name="adj" fmla="val 3051"/>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6" name="Text 24"/>
          <p:cNvSpPr/>
          <p:nvPr/>
        </p:nvSpPr>
        <p:spPr>
          <a:xfrm>
            <a:off x="6629400" y="3566160"/>
            <a:ext cx="466344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Что предлагаем</a:t>
            </a:r>
            <a:endParaRPr lang="en-US" sz="1700" dirty="0"/>
          </a:p>
        </p:txBody>
      </p:sp>
      <p:sp>
        <p:nvSpPr>
          <p:cNvPr id="27" name="Text 25"/>
          <p:cNvSpPr/>
          <p:nvPr/>
        </p:nvSpPr>
        <p:spPr>
          <a:xfrm>
            <a:off x="6629400" y="3950208"/>
            <a:ext cx="4663440" cy="1828800"/>
          </a:xfrm>
          <a:prstGeom prst="rect">
            <a:avLst/>
          </a:prstGeom>
          <a:noFill/>
          <a:ln/>
        </p:spPr>
        <p:txBody>
          <a:bodyPr wrap="square" lIns="0" tIns="0" rIns="0" bIns="0" rtlCol="0" anchor="t"/>
          <a:lstStyle/>
          <a:p>
            <a:pPr indent="0" marL="0">
              <a:buNone/>
            </a:pPr>
            <a:r>
              <a:rPr lang="en-US" sz="1400" dirty="0">
                <a:solidFill>
                  <a:srgbClr val="1A1A2E"/>
                </a:solidFill>
                <a:latin typeface="Calibri" pitchFamily="34" charset="0"/>
                <a:ea typeface="Calibri" pitchFamily="34" charset="-122"/>
                <a:cs typeface="Calibri" pitchFamily="34" charset="-120"/>
              </a:rPr>
              <a:t>Сниженный лимит бесплатных снятий либо бонус за оплату картой вместо снятия.</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772400"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Спящий пластик</a:t>
            </a:r>
            <a:endParaRPr lang="en-US" sz="3200" dirty="0"/>
          </a:p>
        </p:txBody>
      </p:sp>
      <p:sp>
        <p:nvSpPr>
          <p:cNvPr id="3" name="Text 1"/>
          <p:cNvSpPr/>
          <p:nvPr/>
        </p:nvSpPr>
        <p:spPr>
          <a:xfrm>
            <a:off x="640080" y="1051560"/>
            <a:ext cx="7772400" cy="411480"/>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Карта оформлена, но почти не используется</a:t>
            </a:r>
            <a:endParaRPr lang="en-US" sz="1450" dirty="0"/>
          </a:p>
        </p:txBody>
      </p:sp>
      <p:sp>
        <p:nvSpPr>
          <p:cNvPr id="4" name="Shape 2"/>
          <p:cNvSpPr/>
          <p:nvPr/>
        </p:nvSpPr>
        <p:spPr>
          <a:xfrm>
            <a:off x="8778240" y="457200"/>
            <a:ext cx="2743200" cy="960120"/>
          </a:xfrm>
          <a:prstGeom prst="roundRect">
            <a:avLst>
              <a:gd name="adj" fmla="val 7619"/>
            </a:avLst>
          </a:prstGeom>
          <a:solidFill>
            <a:srgbClr val="5A5F7A"/>
          </a:solidFill>
          <a:ln w="12700">
            <a:solidFill>
              <a:srgbClr val="5A5F7A"/>
            </a:solidFill>
            <a:prstDash val="solid"/>
          </a:ln>
        </p:spPr>
      </p:sp>
      <p:sp>
        <p:nvSpPr>
          <p:cNvPr id="5" name="Text 3"/>
          <p:cNvSpPr/>
          <p:nvPr/>
        </p:nvSpPr>
        <p:spPr>
          <a:xfrm>
            <a:off x="8778240" y="530352"/>
            <a:ext cx="2743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1 946</a:t>
            </a:r>
            <a:endParaRPr lang="en-US" sz="2600" dirty="0"/>
          </a:p>
        </p:txBody>
      </p:sp>
      <p:sp>
        <p:nvSpPr>
          <p:cNvPr id="6" name="Text 4"/>
          <p:cNvSpPr/>
          <p:nvPr/>
        </p:nvSpPr>
        <p:spPr>
          <a:xfrm>
            <a:off x="8778240" y="987552"/>
            <a:ext cx="2743200" cy="2743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клиентов  ·  11,1%</a:t>
            </a:r>
            <a:endParaRPr lang="en-US" sz="1200" dirty="0"/>
          </a:p>
        </p:txBody>
      </p:sp>
      <p:sp>
        <p:nvSpPr>
          <p:cNvPr id="7" name="Shape 5"/>
          <p:cNvSpPr/>
          <p:nvPr/>
        </p:nvSpPr>
        <p:spPr>
          <a:xfrm>
            <a:off x="640080"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8" name="Text 6"/>
          <p:cNvSpPr/>
          <p:nvPr/>
        </p:nvSpPr>
        <p:spPr>
          <a:xfrm>
            <a:off x="640080"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1,7</a:t>
            </a:r>
            <a:endParaRPr lang="en-US" sz="2800" dirty="0"/>
          </a:p>
        </p:txBody>
      </p:sp>
      <p:sp>
        <p:nvSpPr>
          <p:cNvPr id="9" name="Text 7"/>
          <p:cNvSpPr/>
          <p:nvPr/>
        </p:nvSpPr>
        <p:spPr>
          <a:xfrm>
            <a:off x="640080"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операции в месяц</a:t>
            </a:r>
            <a:endParaRPr lang="en-US" sz="1200" dirty="0"/>
          </a:p>
        </p:txBody>
      </p:sp>
      <p:sp>
        <p:nvSpPr>
          <p:cNvPr id="10" name="Shape 8"/>
          <p:cNvSpPr/>
          <p:nvPr/>
        </p:nvSpPr>
        <p:spPr>
          <a:xfrm>
            <a:off x="3502152"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1" name="Text 9"/>
          <p:cNvSpPr/>
          <p:nvPr/>
        </p:nvSpPr>
        <p:spPr>
          <a:xfrm>
            <a:off x="3502152"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1,3 млн</a:t>
            </a:r>
            <a:endParaRPr lang="en-US" sz="2800" dirty="0"/>
          </a:p>
        </p:txBody>
      </p:sp>
      <p:sp>
        <p:nvSpPr>
          <p:cNvPr id="12" name="Text 10"/>
          <p:cNvSpPr/>
          <p:nvPr/>
        </p:nvSpPr>
        <p:spPr>
          <a:xfrm>
            <a:off x="3502152"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оборот за полугодие</a:t>
            </a:r>
            <a:endParaRPr lang="en-US" sz="1200" dirty="0"/>
          </a:p>
        </p:txBody>
      </p:sp>
      <p:sp>
        <p:nvSpPr>
          <p:cNvPr id="13" name="Shape 11"/>
          <p:cNvSpPr/>
          <p:nvPr/>
        </p:nvSpPr>
        <p:spPr>
          <a:xfrm>
            <a:off x="6364224"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4" name="Text 12"/>
          <p:cNvSpPr/>
          <p:nvPr/>
        </p:nvSpPr>
        <p:spPr>
          <a:xfrm>
            <a:off x="6364224"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317 тыс.</a:t>
            </a:r>
            <a:endParaRPr lang="en-US" sz="2800" dirty="0"/>
          </a:p>
        </p:txBody>
      </p:sp>
      <p:sp>
        <p:nvSpPr>
          <p:cNvPr id="15" name="Text 13"/>
          <p:cNvSpPr/>
          <p:nvPr/>
        </p:nvSpPr>
        <p:spPr>
          <a:xfrm>
            <a:off x="6364224"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средний остаток</a:t>
            </a:r>
            <a:endParaRPr lang="en-US" sz="1200" dirty="0"/>
          </a:p>
        </p:txBody>
      </p:sp>
      <p:sp>
        <p:nvSpPr>
          <p:cNvPr id="16" name="Shape 14"/>
          <p:cNvSpPr/>
          <p:nvPr/>
        </p:nvSpPr>
        <p:spPr>
          <a:xfrm>
            <a:off x="9226296" y="1783080"/>
            <a:ext cx="2606040" cy="1371600"/>
          </a:xfrm>
          <a:prstGeom prst="roundRect">
            <a:avLst>
              <a:gd name="adj" fmla="val 60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7" name="Text 15"/>
          <p:cNvSpPr/>
          <p:nvPr/>
        </p:nvSpPr>
        <p:spPr>
          <a:xfrm>
            <a:off x="9226296" y="1874520"/>
            <a:ext cx="2606040" cy="685800"/>
          </a:xfrm>
          <a:prstGeom prst="rect">
            <a:avLst/>
          </a:prstGeom>
          <a:noFill/>
          <a:ln/>
        </p:spPr>
        <p:txBody>
          <a:bodyPr wrap="square" lIns="0" tIns="0" rIns="0" bIns="0" rtlCol="0" anchor="ctr"/>
          <a:lstStyle/>
          <a:p>
            <a:pPr algn="ctr" indent="0" marL="0">
              <a:buNone/>
            </a:pPr>
            <a:r>
              <a:rPr lang="en-US" sz="2800" b="1" dirty="0">
                <a:solidFill>
                  <a:srgbClr val="1E2761"/>
                </a:solidFill>
                <a:latin typeface="Cambria" pitchFamily="34" charset="0"/>
                <a:ea typeface="Cambria" pitchFamily="34" charset="-122"/>
                <a:cs typeface="Cambria" pitchFamily="34" charset="-120"/>
              </a:rPr>
              <a:t>0%</a:t>
            </a:r>
            <a:endParaRPr lang="en-US" sz="2800" dirty="0"/>
          </a:p>
        </p:txBody>
      </p:sp>
      <p:sp>
        <p:nvSpPr>
          <p:cNvPr id="18" name="Text 16"/>
          <p:cNvSpPr/>
          <p:nvPr/>
        </p:nvSpPr>
        <p:spPr>
          <a:xfrm>
            <a:off x="9226296" y="2587752"/>
            <a:ext cx="2606040" cy="640080"/>
          </a:xfrm>
          <a:prstGeom prst="rect">
            <a:avLst/>
          </a:prstGeom>
          <a:noFill/>
          <a:ln/>
        </p:spPr>
        <p:txBody>
          <a:bodyPr wrap="square" lIns="0" tIns="0" rIns="0" bIns="0" rtlCol="0" anchor="ctr"/>
          <a:lstStyle/>
          <a:p>
            <a:pPr algn="ctr" indent="0" marL="0">
              <a:buNone/>
            </a:pPr>
            <a:r>
              <a:rPr lang="en-US" sz="1200" dirty="0">
                <a:solidFill>
                  <a:srgbClr val="5A5F7A"/>
                </a:solidFill>
                <a:latin typeface="Calibri" pitchFamily="34" charset="0"/>
                <a:ea typeface="Calibri" pitchFamily="34" charset="-122"/>
                <a:cs typeface="Calibri" pitchFamily="34" charset="-120"/>
              </a:rPr>
              <a:t>трат дискреционные</a:t>
            </a:r>
            <a:endParaRPr lang="en-US" sz="1200" dirty="0"/>
          </a:p>
        </p:txBody>
      </p:sp>
      <p:sp>
        <p:nvSpPr>
          <p:cNvPr id="19" name="Shape 17"/>
          <p:cNvSpPr/>
          <p:nvPr/>
        </p:nvSpPr>
        <p:spPr>
          <a:xfrm>
            <a:off x="640080" y="3383280"/>
            <a:ext cx="5440680" cy="2697480"/>
          </a:xfrm>
          <a:prstGeom prst="roundRect">
            <a:avLst>
              <a:gd name="adj" fmla="val 305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0" name="Text 18"/>
          <p:cNvSpPr/>
          <p:nvPr/>
        </p:nvSpPr>
        <p:spPr>
          <a:xfrm>
            <a:off x="914400" y="3566160"/>
            <a:ext cx="4937760" cy="320040"/>
          </a:xfrm>
          <a:prstGeom prst="rect">
            <a:avLst/>
          </a:prstGeom>
          <a:noFill/>
          <a:ln/>
        </p:spPr>
        <p:txBody>
          <a:bodyPr wrap="square" lIns="0" tIns="0" rIns="0" bIns="0" rtlCol="0" anchor="ctr"/>
          <a:lstStyle/>
          <a:p>
            <a:pPr indent="0" marL="0">
              <a:buNone/>
            </a:pPr>
            <a:r>
              <a:rPr lang="en-US" sz="1700" b="1" dirty="0">
                <a:solidFill>
                  <a:srgbClr val="CADCFC"/>
                </a:solidFill>
                <a:latin typeface="Cambria" pitchFamily="34" charset="0"/>
                <a:ea typeface="Cambria" pitchFamily="34" charset="-122"/>
                <a:cs typeface="Cambria" pitchFamily="34" charset="-120"/>
              </a:rPr>
              <a:t>Сколько приносит сейчас</a:t>
            </a:r>
            <a:endParaRPr lang="en-US" sz="1700" dirty="0"/>
          </a:p>
        </p:txBody>
      </p:sp>
      <p:sp>
        <p:nvSpPr>
          <p:cNvPr id="21" name="Text 19"/>
          <p:cNvSpPr/>
          <p:nvPr/>
        </p:nvSpPr>
        <p:spPr>
          <a:xfrm>
            <a:off x="914400" y="3950208"/>
            <a:ext cx="4937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4 081 сум</a:t>
            </a:r>
            <a:endParaRPr lang="en-US" sz="3000" dirty="0"/>
          </a:p>
        </p:txBody>
      </p:sp>
      <p:sp>
        <p:nvSpPr>
          <p:cNvPr id="22" name="Text 20"/>
          <p:cNvSpPr/>
          <p:nvPr/>
        </p:nvSpPr>
        <p:spPr>
          <a:xfrm>
            <a:off x="914400" y="4526280"/>
            <a:ext cx="4937760" cy="4114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операционного дохода на клиента в месяц  ·  0,4% дохода банка</a:t>
            </a:r>
            <a:endParaRPr lang="en-US" sz="1250" dirty="0"/>
          </a:p>
        </p:txBody>
      </p:sp>
      <p:sp>
        <p:nvSpPr>
          <p:cNvPr id="23" name="Shape 21"/>
          <p:cNvSpPr/>
          <p:nvPr/>
        </p:nvSpPr>
        <p:spPr>
          <a:xfrm>
            <a:off x="914400" y="5029200"/>
            <a:ext cx="4937760" cy="0"/>
          </a:xfrm>
          <a:prstGeom prst="line">
            <a:avLst/>
          </a:prstGeom>
          <a:noFill/>
          <a:ln w="12700">
            <a:solidFill>
              <a:srgbClr val="3D4A94"/>
            </a:solidFill>
            <a:prstDash val="solid"/>
          </a:ln>
        </p:spPr>
      </p:sp>
      <p:sp>
        <p:nvSpPr>
          <p:cNvPr id="24" name="Text 22"/>
          <p:cNvSpPr/>
          <p:nvPr/>
        </p:nvSpPr>
        <p:spPr>
          <a:xfrm>
            <a:off x="914400" y="5138928"/>
            <a:ext cx="4937760" cy="8229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Операционный доход 4 081 сум при абонплате 15 000 — то есть 79% всего, что банк с него получает, это плата за карту, которой не пользуются. Это не прибыль, а риск ухода.</a:t>
            </a:r>
            <a:endParaRPr lang="en-US" sz="1250" dirty="0"/>
          </a:p>
        </p:txBody>
      </p:sp>
      <p:sp>
        <p:nvSpPr>
          <p:cNvPr id="25" name="Shape 23"/>
          <p:cNvSpPr/>
          <p:nvPr/>
        </p:nvSpPr>
        <p:spPr>
          <a:xfrm>
            <a:off x="6355080" y="3383280"/>
            <a:ext cx="5166360" cy="2697480"/>
          </a:xfrm>
          <a:prstGeom prst="roundRect">
            <a:avLst>
              <a:gd name="adj" fmla="val 3051"/>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6" name="Text 24"/>
          <p:cNvSpPr/>
          <p:nvPr/>
        </p:nvSpPr>
        <p:spPr>
          <a:xfrm>
            <a:off x="6629400" y="3566160"/>
            <a:ext cx="466344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Что предлагаем</a:t>
            </a:r>
            <a:endParaRPr lang="en-US" sz="1700" dirty="0"/>
          </a:p>
        </p:txBody>
      </p:sp>
      <p:sp>
        <p:nvSpPr>
          <p:cNvPr id="27" name="Text 25"/>
          <p:cNvSpPr/>
          <p:nvPr/>
        </p:nvSpPr>
        <p:spPr>
          <a:xfrm>
            <a:off x="6629400" y="3950208"/>
            <a:ext cx="4663440" cy="1828800"/>
          </a:xfrm>
          <a:prstGeom prst="rect">
            <a:avLst/>
          </a:prstGeom>
          <a:noFill/>
          <a:ln/>
        </p:spPr>
        <p:txBody>
          <a:bodyPr wrap="square" lIns="0" tIns="0" rIns="0" bIns="0" rtlCol="0" anchor="t"/>
          <a:lstStyle/>
          <a:p>
            <a:pPr indent="0" marL="0">
              <a:buNone/>
            </a:pPr>
            <a:r>
              <a:rPr lang="en-US" sz="1400" dirty="0">
                <a:solidFill>
                  <a:srgbClr val="1A1A2E"/>
                </a:solidFill>
                <a:latin typeface="Calibri" pitchFamily="34" charset="0"/>
                <a:ea typeface="Calibri" pitchFamily="34" charset="-122"/>
                <a:cs typeface="Calibri" pitchFamily="34" charset="-120"/>
              </a:rPr>
              <a:t>Активационная кампания либо перевод на бесплатный тариф без обслуживания.</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Устойчивость измерена числом</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ARI при четырёх возмущениях: 1 — полное совпадение разбиений, 0 — случайное</a:t>
            </a:r>
            <a:endParaRPr lang="en-US" sz="1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6675120" cy="914400"/>
        </p:xfrm>
        <a:graphic>
          <a:graphicData uri="http://schemas.openxmlformats.org/drawingml/2006/table">
            <a:tbl>
              <a:tblPr/>
              <a:tblGrid>
                <a:gridCol w="4389120"/>
                <a:gridCol w="228600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Проверка</a:t>
                      </a:r>
                      <a:endParaRPr lang="en-US" sz="13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ARI</a:t>
                      </a:r>
                      <a:endParaRPr lang="en-US" sz="13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r>
              <a:tr h="502920">
                <a:tc>
                  <a:txBody>
                    <a:bodyPr/>
                    <a:lstStyle/>
                    <a:p>
                      <a:pPr indent="0" marL="0">
                        <a:buNone/>
                      </a:pPr>
                      <a:r>
                        <a:rPr lang="en-US" sz="1350" dirty="0">
                          <a:solidFill>
                            <a:srgbClr val="1A1A2E"/>
                          </a:solidFill>
                          <a:latin typeface="Calibri" pitchFamily="34" charset="0"/>
                          <a:ea typeface="Calibri" pitchFamily="34" charset="-122"/>
                          <a:cs typeface="Calibri" pitchFamily="34" charset="-120"/>
                        </a:rPr>
                        <a:t>Другой random_state (три прогона)</a:t>
                      </a:r>
                      <a:endParaRPr lang="en-US" sz="13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350" b="1" dirty="0">
                          <a:solidFill>
                            <a:srgbClr val="1E2761"/>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502920">
                <a:tc>
                  <a:txBody>
                    <a:bodyPr/>
                    <a:lstStyle/>
                    <a:p>
                      <a:pPr indent="0" marL="0">
                        <a:buNone/>
                      </a:pPr>
                      <a:r>
                        <a:rPr lang="en-US" sz="1350" dirty="0">
                          <a:solidFill>
                            <a:srgbClr val="1A1A2E"/>
                          </a:solidFill>
                          <a:latin typeface="Calibri" pitchFamily="34" charset="0"/>
                          <a:ea typeface="Calibri" pitchFamily="34" charset="-122"/>
                          <a:cs typeface="Calibri" pitchFamily="34" charset="-120"/>
                        </a:rPr>
                        <a:t>Половина выборки (три прогона)</a:t>
                      </a:r>
                      <a:endParaRPr lang="en-US" sz="13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350" b="1" dirty="0">
                          <a:solidFill>
                            <a:srgbClr val="1E2761"/>
                          </a:solidFill>
                          <a:latin typeface="Calibri" pitchFamily="34" charset="0"/>
                          <a:ea typeface="Calibri" pitchFamily="34" charset="-122"/>
                          <a:cs typeface="Calibri" pitchFamily="34" charset="-120"/>
                        </a:rPr>
                        <a:t>0,993 – 0,994</a:t>
                      </a:r>
                      <a:endParaRPr lang="en-US" sz="13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502920">
                <a:tc>
                  <a:txBody>
                    <a:bodyPr/>
                    <a:lstStyle/>
                    <a:p>
                      <a:pPr indent="0" marL="0">
                        <a:buNone/>
                      </a:pPr>
                      <a:r>
                        <a:rPr lang="en-US" sz="1350" dirty="0">
                          <a:solidFill>
                            <a:srgbClr val="1A1A2E"/>
                          </a:solidFill>
                          <a:latin typeface="Calibri" pitchFamily="34" charset="0"/>
                          <a:ea typeface="Calibri" pitchFamily="34" charset="-122"/>
                          <a:cs typeface="Calibri" pitchFamily="34" charset="-120"/>
                        </a:rPr>
                        <a:t>Без последнего месяца (окно 5 мес.)</a:t>
                      </a:r>
                      <a:endParaRPr lang="en-US" sz="13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350" b="1" dirty="0">
                          <a:solidFill>
                            <a:srgbClr val="1E2761"/>
                          </a:solidFill>
                          <a:latin typeface="Calibri" pitchFamily="34" charset="0"/>
                          <a:ea typeface="Calibri" pitchFamily="34" charset="-122"/>
                          <a:cs typeface="Calibri" pitchFamily="34" charset="-120"/>
                        </a:rPr>
                        <a:t>0,968</a:t>
                      </a:r>
                      <a:endParaRPr lang="en-US" sz="13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502920">
                <a:tc>
                  <a:txBody>
                    <a:bodyPr/>
                    <a:lstStyle/>
                    <a:p>
                      <a:pPr indent="0" marL="0">
                        <a:buNone/>
                      </a:pPr>
                      <a:r>
                        <a:rPr lang="en-US" sz="1350" dirty="0">
                          <a:solidFill>
                            <a:srgbClr val="1A1A2E"/>
                          </a:solidFill>
                          <a:latin typeface="Calibri" pitchFamily="34" charset="0"/>
                          <a:ea typeface="Calibri" pitchFamily="34" charset="-122"/>
                          <a:cs typeface="Calibri" pitchFamily="34" charset="-120"/>
                        </a:rPr>
                        <a:t>Изменённый набор признаков (три прогона)</a:t>
                      </a:r>
                      <a:endParaRPr lang="en-US" sz="13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350" b="1" dirty="0">
                          <a:solidFill>
                            <a:srgbClr val="1E2761"/>
                          </a:solidFill>
                          <a:latin typeface="Calibri" pitchFamily="34" charset="0"/>
                          <a:ea typeface="Calibri" pitchFamily="34" charset="-122"/>
                          <a:cs typeface="Calibri" pitchFamily="34" charset="-120"/>
                        </a:rPr>
                        <a:t>0,862 – 0,971</a:t>
                      </a:r>
                      <a:endParaRPr lang="en-US" sz="13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bl>
          </a:graphicData>
        </a:graphic>
      </p:graphicFrame>
      <p:sp>
        <p:nvSpPr>
          <p:cNvPr id="5" name="Shape 2"/>
          <p:cNvSpPr/>
          <p:nvPr/>
        </p:nvSpPr>
        <p:spPr>
          <a:xfrm>
            <a:off x="640080" y="4389120"/>
            <a:ext cx="6675120" cy="1691640"/>
          </a:xfrm>
          <a:prstGeom prst="roundRect">
            <a:avLst>
              <a:gd name="adj" fmla="val 4865"/>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6" name="Text 3"/>
          <p:cNvSpPr/>
          <p:nvPr/>
        </p:nvSpPr>
        <p:spPr>
          <a:xfrm>
            <a:off x="914400" y="4553712"/>
            <a:ext cx="6217920" cy="320040"/>
          </a:xfrm>
          <a:prstGeom prst="rect">
            <a:avLst/>
          </a:prstGeom>
          <a:noFill/>
          <a:ln/>
        </p:spPr>
        <p:txBody>
          <a:bodyPr wrap="square" lIns="0" tIns="0" rIns="0" bIns="0" rtlCol="0" anchor="ctr"/>
          <a:lstStyle/>
          <a:p>
            <a:pPr indent="0" marL="0">
              <a:buNone/>
            </a:pPr>
            <a:r>
              <a:rPr lang="en-US" sz="1600" b="1" dirty="0">
                <a:solidFill>
                  <a:srgbClr val="C7443E"/>
                </a:solidFill>
                <a:latin typeface="Cambria" pitchFamily="34" charset="0"/>
                <a:ea typeface="Cambria" pitchFamily="34" charset="-122"/>
                <a:cs typeface="Cambria" pitchFamily="34" charset="-120"/>
              </a:rPr>
              <a:t>Оговорка, которую называю сам</a:t>
            </a:r>
            <a:endParaRPr lang="en-US" sz="1600" dirty="0"/>
          </a:p>
        </p:txBody>
      </p:sp>
      <p:sp>
        <p:nvSpPr>
          <p:cNvPr id="7" name="Text 4"/>
          <p:cNvSpPr/>
          <p:nvPr/>
        </p:nvSpPr>
        <p:spPr>
          <a:xfrm>
            <a:off x="914400" y="4937760"/>
            <a:ext cx="6217920" cy="100584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Такие значения на реальных данных были бы подозрительны. Здесь они объясняются тем, что классы действительно хорошо разделены — силуэт имеет чёткий максимум, — а данные синтетические, и структура в них выражена сильнее, чем бывает в жизни.</a:t>
            </a:r>
            <a:endParaRPr lang="en-US" sz="1250" dirty="0"/>
          </a:p>
        </p:txBody>
      </p:sp>
      <p:sp>
        <p:nvSpPr>
          <p:cNvPr id="8" name="Shape 5"/>
          <p:cNvSpPr/>
          <p:nvPr/>
        </p:nvSpPr>
        <p:spPr>
          <a:xfrm>
            <a:off x="7589520" y="1874520"/>
            <a:ext cx="3931920" cy="4206240"/>
          </a:xfrm>
          <a:prstGeom prst="roundRect">
            <a:avLst>
              <a:gd name="adj" fmla="val 2093"/>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9" name="Text 6"/>
          <p:cNvSpPr/>
          <p:nvPr/>
        </p:nvSpPr>
        <p:spPr>
          <a:xfrm>
            <a:off x="7863840" y="2148840"/>
            <a:ext cx="3429000" cy="7315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0,974</a:t>
            </a:r>
            <a:endParaRPr lang="en-US" sz="4200" dirty="0"/>
          </a:p>
        </p:txBody>
      </p:sp>
      <p:sp>
        <p:nvSpPr>
          <p:cNvPr id="10" name="Text 7"/>
          <p:cNvSpPr/>
          <p:nvPr/>
        </p:nvSpPr>
        <p:spPr>
          <a:xfrm>
            <a:off x="7863840" y="2880360"/>
            <a:ext cx="3429000" cy="5486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средний ARI по всем десяти проверкам</a:t>
            </a:r>
            <a:endParaRPr lang="en-US" sz="1300" dirty="0"/>
          </a:p>
        </p:txBody>
      </p:sp>
      <p:sp>
        <p:nvSpPr>
          <p:cNvPr id="11" name="Text 8"/>
          <p:cNvSpPr/>
          <p:nvPr/>
        </p:nvSpPr>
        <p:spPr>
          <a:xfrm>
            <a:off x="7863840" y="3566160"/>
            <a:ext cx="3429000" cy="64008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0,862</a:t>
            </a:r>
            <a:endParaRPr lang="en-US" sz="3400" dirty="0"/>
          </a:p>
        </p:txBody>
      </p:sp>
      <p:sp>
        <p:nvSpPr>
          <p:cNvPr id="12" name="Text 9"/>
          <p:cNvSpPr/>
          <p:nvPr/>
        </p:nvSpPr>
        <p:spPr>
          <a:xfrm>
            <a:off x="7863840" y="4206240"/>
            <a:ext cx="3429000" cy="5486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минимальный — при удалении пятой части признаков</a:t>
            </a:r>
            <a:endParaRPr lang="en-US" sz="1300" dirty="0"/>
          </a:p>
        </p:txBody>
      </p:sp>
      <p:sp>
        <p:nvSpPr>
          <p:cNvPr id="13" name="Shape 10"/>
          <p:cNvSpPr/>
          <p:nvPr/>
        </p:nvSpPr>
        <p:spPr>
          <a:xfrm>
            <a:off x="7863840" y="4892040"/>
            <a:ext cx="3429000" cy="0"/>
          </a:xfrm>
          <a:prstGeom prst="line">
            <a:avLst/>
          </a:prstGeom>
          <a:noFill/>
          <a:ln w="12700">
            <a:solidFill>
              <a:srgbClr val="3D4A94"/>
            </a:solidFill>
            <a:prstDash val="solid"/>
          </a:ln>
        </p:spPr>
      </p:sp>
      <p:sp>
        <p:nvSpPr>
          <p:cNvPr id="14" name="Text 11"/>
          <p:cNvSpPr/>
          <p:nvPr/>
        </p:nvSpPr>
        <p:spPr>
          <a:xfrm>
            <a:off x="7863840" y="5029200"/>
            <a:ext cx="342900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Самая чувствительная проверка — набор признаков, и это естественно: убирая оси, мы меняем само пространство, в котором меряется близость.</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Чем это лучше деления по квартилям оборота</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Доля объяснённой дисперсии: деньги на логарифмической шкале, поведение как есть</a:t>
            </a:r>
            <a:endParaRPr lang="en-US" sz="1450" dirty="0"/>
          </a:p>
        </p:txBody>
      </p:sp>
      <p:graphicFrame>
        <p:nvGraphicFramePr>
          <p:cNvPr id="4" name="Chart 0" descr=""/>
          <p:cNvGraphicFramePr/>
          <p:nvPr/>
        </p:nvGraphicFramePr>
        <p:xfrm>
          <a:off x="640080" y="1874520"/>
          <a:ext cx="731520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1874520"/>
            <a:ext cx="3291840" cy="1874520"/>
          </a:xfrm>
          <a:prstGeom prst="roundRect">
            <a:avLst>
              <a:gd name="adj" fmla="val 4390"/>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6" name="Text 3"/>
          <p:cNvSpPr/>
          <p:nvPr/>
        </p:nvSpPr>
        <p:spPr>
          <a:xfrm>
            <a:off x="8458200" y="2103120"/>
            <a:ext cx="28346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ARI 0,216</a:t>
            </a:r>
            <a:endParaRPr lang="en-US" sz="2800" dirty="0"/>
          </a:p>
        </p:txBody>
      </p:sp>
      <p:sp>
        <p:nvSpPr>
          <p:cNvPr id="7" name="Text 4"/>
          <p:cNvSpPr/>
          <p:nvPr/>
        </p:nvSpPr>
        <p:spPr>
          <a:xfrm>
            <a:off x="8458200" y="2697480"/>
            <a:ext cx="2834640" cy="9144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совпадение с квартилями. Типология не переоткрывает оборот дорогим способом.</a:t>
            </a:r>
            <a:endParaRPr lang="en-US" sz="1250" dirty="0"/>
          </a:p>
        </p:txBody>
      </p:sp>
      <p:sp>
        <p:nvSpPr>
          <p:cNvPr id="8" name="Shape 5"/>
          <p:cNvSpPr/>
          <p:nvPr/>
        </p:nvSpPr>
        <p:spPr>
          <a:xfrm>
            <a:off x="8229600" y="3886200"/>
            <a:ext cx="3291840" cy="1828800"/>
          </a:xfrm>
          <a:prstGeom prst="roundRect">
            <a:avLst>
              <a:gd name="adj" fmla="val 4500"/>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9" name="Text 6"/>
          <p:cNvSpPr/>
          <p:nvPr/>
        </p:nvSpPr>
        <p:spPr>
          <a:xfrm>
            <a:off x="8458200" y="4041648"/>
            <a:ext cx="283464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Где паритет</a:t>
            </a:r>
            <a:endParaRPr lang="en-US" sz="1600" dirty="0"/>
          </a:p>
        </p:txBody>
      </p:sp>
      <p:sp>
        <p:nvSpPr>
          <p:cNvPr id="10" name="Text 7"/>
          <p:cNvSpPr/>
          <p:nvPr/>
        </p:nvSpPr>
        <p:spPr>
          <a:xfrm>
            <a:off x="8458200" y="4434840"/>
            <a:ext cx="2834640" cy="10972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По самому обороту разница почти нулевая: 0,750 против 0,732. Квартили строятся по нему — и это честно.</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Завтра придёт новый клиент</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Правило из двух шагов, проверенное на клиентах вне обучения</a:t>
            </a:r>
            <a:endParaRPr lang="en-US" sz="1450" dirty="0"/>
          </a:p>
        </p:txBody>
      </p:sp>
      <p:sp>
        <p:nvSpPr>
          <p:cNvPr id="4" name="Shape 2"/>
          <p:cNvSpPr/>
          <p:nvPr/>
        </p:nvSpPr>
        <p:spPr>
          <a:xfrm>
            <a:off x="640080" y="1828800"/>
            <a:ext cx="3520440" cy="2011680"/>
          </a:xfrm>
          <a:prstGeom prst="roundRect">
            <a:avLst>
              <a:gd name="adj" fmla="val 4091"/>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5" name="Shape 3"/>
          <p:cNvSpPr/>
          <p:nvPr/>
        </p:nvSpPr>
        <p:spPr>
          <a:xfrm>
            <a:off x="914400" y="2011680"/>
            <a:ext cx="457200" cy="457200"/>
          </a:xfrm>
          <a:prstGeom prst="ellipse">
            <a:avLst/>
          </a:prstGeom>
          <a:solidFill>
            <a:srgbClr val="1E2761"/>
          </a:solidFill>
          <a:ln w="12700">
            <a:solidFill>
              <a:srgbClr val="1E2761"/>
            </a:solidFill>
            <a:prstDash val="solid"/>
          </a:ln>
        </p:spPr>
      </p:sp>
      <p:sp>
        <p:nvSpPr>
          <p:cNvPr id="6" name="Text 4"/>
          <p:cNvSpPr/>
          <p:nvPr/>
        </p:nvSpPr>
        <p:spPr>
          <a:xfrm>
            <a:off x="914400" y="2066544"/>
            <a:ext cx="45720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2029968"/>
            <a:ext cx="23774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Когорта</a:t>
            </a:r>
            <a:endParaRPr lang="en-US" sz="1800" dirty="0"/>
          </a:p>
        </p:txBody>
      </p:sp>
      <p:sp>
        <p:nvSpPr>
          <p:cNvPr id="8" name="Text 6"/>
          <p:cNvSpPr/>
          <p:nvPr/>
        </p:nvSpPr>
        <p:spPr>
          <a:xfrm>
            <a:off x="914400" y="2606040"/>
            <a:ext cx="2971800" cy="10972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Нет операций за полгода — «спящий». Меньше полугода истории — «новичок». Иначе идём дальше.</a:t>
            </a:r>
            <a:endParaRPr lang="en-US" sz="1250" dirty="0"/>
          </a:p>
        </p:txBody>
      </p:sp>
      <p:sp>
        <p:nvSpPr>
          <p:cNvPr id="9" name="Shape 7"/>
          <p:cNvSpPr/>
          <p:nvPr/>
        </p:nvSpPr>
        <p:spPr>
          <a:xfrm>
            <a:off x="4434840" y="1828800"/>
            <a:ext cx="3520440" cy="2011680"/>
          </a:xfrm>
          <a:prstGeom prst="roundRect">
            <a:avLst>
              <a:gd name="adj" fmla="val 4091"/>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0" name="Shape 8"/>
          <p:cNvSpPr/>
          <p:nvPr/>
        </p:nvSpPr>
        <p:spPr>
          <a:xfrm>
            <a:off x="4709160" y="2011680"/>
            <a:ext cx="457200" cy="457200"/>
          </a:xfrm>
          <a:prstGeom prst="ellipse">
            <a:avLst/>
          </a:prstGeom>
          <a:solidFill>
            <a:srgbClr val="1E2761"/>
          </a:solidFill>
          <a:ln w="12700">
            <a:solidFill>
              <a:srgbClr val="1E2761"/>
            </a:solidFill>
            <a:prstDash val="solid"/>
          </a:ln>
        </p:spPr>
      </p:sp>
      <p:sp>
        <p:nvSpPr>
          <p:cNvPr id="11" name="Text 9"/>
          <p:cNvSpPr/>
          <p:nvPr/>
        </p:nvSpPr>
        <p:spPr>
          <a:xfrm>
            <a:off x="4709160" y="2066544"/>
            <a:ext cx="45720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5303520" y="2029968"/>
            <a:ext cx="23774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Признаки</a:t>
            </a:r>
            <a:endParaRPr lang="en-US" sz="1800" dirty="0"/>
          </a:p>
        </p:txBody>
      </p:sp>
      <p:sp>
        <p:nvSpPr>
          <p:cNvPr id="13" name="Text 11"/>
          <p:cNvSpPr/>
          <p:nvPr/>
        </p:nvSpPr>
        <p:spPr>
          <a:xfrm>
            <a:off x="4709160" y="2606040"/>
            <a:ext cx="2971800" cy="10972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Считаем те же 14 признаков за последние шесть месяцев.</a:t>
            </a:r>
            <a:endParaRPr lang="en-US" sz="1250" dirty="0"/>
          </a:p>
        </p:txBody>
      </p:sp>
      <p:sp>
        <p:nvSpPr>
          <p:cNvPr id="14" name="Shape 12"/>
          <p:cNvSpPr/>
          <p:nvPr/>
        </p:nvSpPr>
        <p:spPr>
          <a:xfrm>
            <a:off x="8229600" y="1828800"/>
            <a:ext cx="3520440" cy="2011680"/>
          </a:xfrm>
          <a:prstGeom prst="roundRect">
            <a:avLst>
              <a:gd name="adj" fmla="val 4091"/>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5" name="Shape 13"/>
          <p:cNvSpPr/>
          <p:nvPr/>
        </p:nvSpPr>
        <p:spPr>
          <a:xfrm>
            <a:off x="8503920" y="2011680"/>
            <a:ext cx="457200" cy="457200"/>
          </a:xfrm>
          <a:prstGeom prst="ellipse">
            <a:avLst/>
          </a:prstGeom>
          <a:solidFill>
            <a:srgbClr val="1E2761"/>
          </a:solidFill>
          <a:ln w="12700">
            <a:solidFill>
              <a:srgbClr val="1E2761"/>
            </a:solidFill>
            <a:prstDash val="solid"/>
          </a:ln>
        </p:spPr>
      </p:sp>
      <p:sp>
        <p:nvSpPr>
          <p:cNvPr id="16" name="Text 14"/>
          <p:cNvSpPr/>
          <p:nvPr/>
        </p:nvSpPr>
        <p:spPr>
          <a:xfrm>
            <a:off x="8503920" y="2066544"/>
            <a:ext cx="45720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9098280" y="2029968"/>
            <a:ext cx="23774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Тип</a:t>
            </a:r>
            <a:endParaRPr lang="en-US" sz="1800" dirty="0"/>
          </a:p>
        </p:txBody>
      </p:sp>
      <p:sp>
        <p:nvSpPr>
          <p:cNvPr id="18" name="Text 16"/>
          <p:cNvSpPr/>
          <p:nvPr/>
        </p:nvSpPr>
        <p:spPr>
          <a:xfrm>
            <a:off x="8503920" y="2606040"/>
            <a:ext cx="2971800" cy="10972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Применяем сохранённые параметры обработки и находим ближайший центр класса.</a:t>
            </a:r>
            <a:endParaRPr lang="en-US" sz="1250" dirty="0"/>
          </a:p>
        </p:txBody>
      </p:sp>
      <p:sp>
        <p:nvSpPr>
          <p:cNvPr id="19" name="Shape 17"/>
          <p:cNvSpPr/>
          <p:nvPr/>
        </p:nvSpPr>
        <p:spPr>
          <a:xfrm>
            <a:off x="640080" y="4069080"/>
            <a:ext cx="3520440" cy="2011680"/>
          </a:xfrm>
          <a:prstGeom prst="roundRect">
            <a:avLst>
              <a:gd name="adj" fmla="val 409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0" name="Text 18"/>
          <p:cNvSpPr/>
          <p:nvPr/>
        </p:nvSpPr>
        <p:spPr>
          <a:xfrm>
            <a:off x="914400" y="4251960"/>
            <a:ext cx="2971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0,999</a:t>
            </a:r>
            <a:endParaRPr lang="en-US" sz="3200" dirty="0"/>
          </a:p>
        </p:txBody>
      </p:sp>
      <p:sp>
        <p:nvSpPr>
          <p:cNvPr id="21" name="Text 19"/>
          <p:cNvSpPr/>
          <p:nvPr/>
        </p:nvSpPr>
        <p:spPr>
          <a:xfrm>
            <a:off x="914400" y="4937760"/>
            <a:ext cx="2971800" cy="10058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ARI между правилом и полной моделью на 3 508 отложенных клиентах</a:t>
            </a:r>
            <a:endParaRPr lang="en-US" sz="1250" dirty="0"/>
          </a:p>
        </p:txBody>
      </p:sp>
      <p:sp>
        <p:nvSpPr>
          <p:cNvPr id="22" name="Shape 20"/>
          <p:cNvSpPr/>
          <p:nvPr/>
        </p:nvSpPr>
        <p:spPr>
          <a:xfrm>
            <a:off x="4434840" y="4069080"/>
            <a:ext cx="3520440" cy="2011680"/>
          </a:xfrm>
          <a:prstGeom prst="roundRect">
            <a:avLst>
              <a:gd name="adj" fmla="val 409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3" name="Text 21"/>
          <p:cNvSpPr/>
          <p:nvPr/>
        </p:nvSpPr>
        <p:spPr>
          <a:xfrm>
            <a:off x="4709160" y="4251960"/>
            <a:ext cx="2971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8,1%</a:t>
            </a:r>
            <a:endParaRPr lang="en-US" sz="3200" dirty="0"/>
          </a:p>
        </p:txBody>
      </p:sp>
      <p:sp>
        <p:nvSpPr>
          <p:cNvPr id="24" name="Text 22"/>
          <p:cNvSpPr/>
          <p:nvPr/>
        </p:nvSpPr>
        <p:spPr>
          <a:xfrm>
            <a:off x="4709160" y="4937760"/>
            <a:ext cx="2971800" cy="10058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пограничных случаев — расстояние до двух ближайших центров различается меньше чем на 20%</a:t>
            </a:r>
            <a:endParaRPr lang="en-US" sz="1250" dirty="0"/>
          </a:p>
        </p:txBody>
      </p:sp>
      <p:sp>
        <p:nvSpPr>
          <p:cNvPr id="25" name="Shape 23"/>
          <p:cNvSpPr/>
          <p:nvPr/>
        </p:nvSpPr>
        <p:spPr>
          <a:xfrm>
            <a:off x="8229600" y="4069080"/>
            <a:ext cx="3520440" cy="2011680"/>
          </a:xfrm>
          <a:prstGeom prst="roundRect">
            <a:avLst>
              <a:gd name="adj" fmla="val 409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26" name="Text 24"/>
          <p:cNvSpPr/>
          <p:nvPr/>
        </p:nvSpPr>
        <p:spPr>
          <a:xfrm>
            <a:off x="8503920" y="4251960"/>
            <a:ext cx="2971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94,7%</a:t>
            </a:r>
            <a:endParaRPr lang="en-US" sz="3200" dirty="0"/>
          </a:p>
        </p:txBody>
      </p:sp>
      <p:sp>
        <p:nvSpPr>
          <p:cNvPr id="27" name="Text 25"/>
          <p:cNvSpPr/>
          <p:nvPr/>
        </p:nvSpPr>
        <p:spPr>
          <a:xfrm>
            <a:off x="8503920" y="4937760"/>
            <a:ext cx="2971800" cy="10058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точность упрощённого правила в виде дерева глубины три</a:t>
            </a:r>
            <a:endParaRPr lang="en-US" sz="1250" dirty="0"/>
          </a:p>
        </p:txBody>
      </p:sp>
      <p:sp>
        <p:nvSpPr>
          <p:cNvPr id="28" name="Text 26"/>
          <p:cNvSpPr/>
          <p:nvPr/>
        </p:nvSpPr>
        <p:spPr>
          <a:xfrm>
            <a:off x="640080" y="6217920"/>
            <a:ext cx="10881360" cy="411480"/>
          </a:xfrm>
          <a:prstGeom prst="rect">
            <a:avLst/>
          </a:prstGeom>
          <a:noFill/>
          <a:ln/>
        </p:spPr>
        <p:txBody>
          <a:bodyPr wrap="square" lIns="0" tIns="0" rIns="0" bIns="0" rtlCol="0" anchor="ctr"/>
          <a:lstStyle/>
          <a:p>
            <a:pPr indent="0" marL="0">
              <a:buNone/>
            </a:pPr>
            <a:r>
              <a:rPr lang="en-US" sz="1200" i="1" dirty="0">
                <a:solidFill>
                  <a:srgbClr val="5A5F7A"/>
                </a:solidFill>
                <a:latin typeface="Calibri" pitchFamily="34" charset="0"/>
                <a:ea typeface="Calibri" pitchFamily="34" charset="-122"/>
                <a:cs typeface="Calibri" pitchFamily="34" charset="-120"/>
              </a:rPr>
              <a:t>Параметры обработки — логарифм, границы обрезки, среднее и разброс — сохраняются и применяются к новому клиенту как есть. Пересчитывать их нельзя: иначе тип клиента зависел бы от того, кто ещё пришёл в тот же день.</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08792"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Экономический эффект реформы</a:t>
            </a:r>
            <a:endParaRPr lang="en-US" sz="3200" dirty="0"/>
          </a:p>
        </p:txBody>
      </p:sp>
      <p:sp>
        <p:nvSpPr>
          <p:cNvPr id="3" name="Text 1"/>
          <p:cNvSpPr/>
          <p:nvPr/>
        </p:nvSpPr>
        <p:spPr>
          <a:xfrm>
            <a:off x="640080" y="1051560"/>
            <a:ext cx="10908792" cy="384048"/>
          </a:xfrm>
          <a:prstGeom prst="rect">
            <a:avLst/>
          </a:prstGeom>
          <a:noFill/>
          <a:ln/>
        </p:spPr>
        <p:txBody>
          <a:bodyPr wrap="square" lIns="0" tIns="0" rIns="0" bIns="0" rtlCol="0" anchor="ctr"/>
          <a:lstStyle/>
          <a:p>
            <a:pPr indent="0" marL="0">
              <a:buNone/>
            </a:pPr>
            <a:r>
              <a:rPr lang="en-US" sz="1450" dirty="0">
                <a:solidFill>
                  <a:srgbClr val="5A5F7A"/>
                </a:solidFill>
                <a:latin typeface="Calibri" pitchFamily="34" charset="0"/>
                <a:ea typeface="Calibri" pitchFamily="34" charset="-122"/>
                <a:cs typeface="Calibri" pitchFamily="34" charset="-120"/>
              </a:rPr>
              <a:t>Два слоя: механический считается из данных, поведенческий остаётся гипотезой</a:t>
            </a:r>
            <a:endParaRPr lang="en-US" sz="1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315200" cy="914400"/>
        </p:xfrm>
        <a:graphic>
          <a:graphicData uri="http://schemas.openxmlformats.org/drawingml/2006/table">
            <a:tbl>
              <a:tblPr/>
              <a:tblGrid>
                <a:gridCol w="2103120"/>
                <a:gridCol w="1051560"/>
                <a:gridCol w="1051560"/>
                <a:gridCol w="960120"/>
                <a:gridCol w="1234440"/>
                <a:gridCol w="91440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Тип</a:t>
                      </a:r>
                      <a:endParaRPr lang="en-US" sz="10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Абонплата</a:t>
                      </a:r>
                      <a:endParaRPr lang="en-US" sz="10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Комиссия</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за снятия</a:t>
                      </a:r>
                      <a:endParaRPr lang="en-US" sz="10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Кешбэк</a:t>
                      </a:r>
                      <a:endParaRPr lang="en-US" sz="10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Итого/мес</a:t>
                      </a:r>
                      <a:endParaRPr lang="en-US" sz="10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На клиента</a:t>
                      </a:r>
                      <a:endParaRPr lang="en-US" sz="10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r>
              <a:tr h="384048">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Обороты</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+76,9</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+77,9</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−53,6</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+101,5 млн</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+46 077</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384048">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Хранители остатка</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−27,6</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+9,4</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−18,3 млн</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−7 631</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384048">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Цифровые тратчики</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+14,6</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−25,9</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−11,3 млн</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−2 993</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384048">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Наличные повседневные</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+49,4</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−18,0</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+31,4 млн</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+4 354</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384048">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Спящий пластик</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+0,1</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dirty="0">
                          <a:solidFill>
                            <a:srgbClr val="1A1A2E"/>
                          </a:solidFill>
                          <a:latin typeface="Calibri" pitchFamily="34" charset="0"/>
                          <a:ea typeface="Calibri" pitchFamily="34" charset="-122"/>
                          <a:cs typeface="Calibri" pitchFamily="34" charset="-120"/>
                        </a:rPr>
                        <a:t>−0,4</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−0,3 млн</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c>
                  <a:txBody>
                    <a:bodyPr/>
                    <a:lstStyle/>
                    <a:p>
                      <a:pPr algn="ctr" indent="0" marL="0">
                        <a:buNone/>
                      </a:pPr>
                      <a:r>
                        <a:rPr lang="en-US" sz="1150" b="1" dirty="0">
                          <a:solidFill>
                            <a:srgbClr val="1A1A2E"/>
                          </a:solidFill>
                          <a:latin typeface="Calibri" pitchFamily="34" charset="0"/>
                          <a:ea typeface="Calibri" pitchFamily="34" charset="-122"/>
                          <a:cs typeface="Calibri" pitchFamily="34" charset="-120"/>
                        </a:rPr>
                        <a:t>−158</a:t>
                      </a:r>
                      <a:endParaRPr lang="en-US" sz="11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tcPr>
                </a:tc>
              </a:tr>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Всего</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+102,7 млн</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91440" marR="91440" marT="45720" marB="45720" anchor="ctr">
                    <a:lnL w="6350" cap="flat" cmpd="sng" algn="ctr">
                      <a:solidFill>
                        <a:srgbClr val="E2E6F2"/>
                      </a:solidFill>
                      <a:prstDash val="solid"/>
                      <a:round/>
                      <a:headEnd type="none" w="med" len="med"/>
                      <a:tailEnd type="none" w="med" len="med"/>
                    </a:lnL>
                    <a:lnR w="6350" cap="flat" cmpd="sng" algn="ctr">
                      <a:solidFill>
                        <a:srgbClr val="E2E6F2"/>
                      </a:solidFill>
                      <a:prstDash val="solid"/>
                      <a:round/>
                      <a:headEnd type="none" w="med" len="med"/>
                      <a:tailEnd type="none" w="med" len="med"/>
                    </a:lnR>
                    <a:lnT w="6350" cap="flat" cmpd="sng" algn="ctr">
                      <a:solidFill>
                        <a:srgbClr val="E2E6F2"/>
                      </a:solidFill>
                      <a:prstDash val="solid"/>
                      <a:round/>
                      <a:headEnd type="none" w="med" len="med"/>
                      <a:tailEnd type="none" w="med" len="med"/>
                    </a:lnT>
                    <a:lnB w="6350" cap="flat" cmpd="sng" algn="ctr">
                      <a:solidFill>
                        <a:srgbClr val="E2E6F2"/>
                      </a:solidFill>
                      <a:prstDash val="solid"/>
                      <a:round/>
                      <a:headEnd type="none" w="med" len="med"/>
                      <a:tailEnd type="none" w="med" len="med"/>
                    </a:lnB>
                    <a:solidFill>
                      <a:srgbClr val="1E2761"/>
                    </a:solidFill>
                  </a:tcPr>
                </a:tc>
              </a:tr>
            </a:tbl>
          </a:graphicData>
        </a:graphic>
      </p:graphicFrame>
      <p:sp>
        <p:nvSpPr>
          <p:cNvPr id="5" name="Shape 2"/>
          <p:cNvSpPr/>
          <p:nvPr/>
        </p:nvSpPr>
        <p:spPr>
          <a:xfrm>
            <a:off x="640080" y="4617720"/>
            <a:ext cx="7315200" cy="1463040"/>
          </a:xfrm>
          <a:prstGeom prst="roundRect">
            <a:avLst>
              <a:gd name="adj" fmla="val 5625"/>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6" name="Text 3"/>
          <p:cNvSpPr/>
          <p:nvPr/>
        </p:nvSpPr>
        <p:spPr>
          <a:xfrm>
            <a:off x="914400" y="4736592"/>
            <a:ext cx="676656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Кешбэк — доля интерчейнджа, а не процент от оборота</a:t>
            </a:r>
            <a:endParaRPr lang="en-US" sz="1500" dirty="0"/>
          </a:p>
        </p:txBody>
      </p:sp>
      <p:sp>
        <p:nvSpPr>
          <p:cNvPr id="7" name="Text 4"/>
          <p:cNvSpPr/>
          <p:nvPr/>
        </p:nvSpPr>
        <p:spPr>
          <a:xfrm>
            <a:off x="914400" y="5102352"/>
            <a:ext cx="6766560" cy="86868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Интерчейндж по факту 0,800% безналичного оборота. Ставка вроде «1% на онлайн» превысила бы его — программа лояльности стала бы убыточной по построению. Дополнительно кешбэк ограничен десятой частью операционного дохода типа.</a:t>
            </a:r>
            <a:endParaRPr lang="en-US" sz="1200" dirty="0"/>
          </a:p>
        </p:txBody>
      </p:sp>
      <p:sp>
        <p:nvSpPr>
          <p:cNvPr id="8" name="Shape 5"/>
          <p:cNvSpPr/>
          <p:nvPr/>
        </p:nvSpPr>
        <p:spPr>
          <a:xfrm>
            <a:off x="8229600" y="1828800"/>
            <a:ext cx="3291840" cy="2011680"/>
          </a:xfrm>
          <a:prstGeom prst="roundRect">
            <a:avLst>
              <a:gd name="adj" fmla="val 4091"/>
            </a:avLst>
          </a:prstGeom>
          <a:solidFill>
            <a:srgbClr val="1E2761"/>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9" name="Text 6"/>
          <p:cNvSpPr/>
          <p:nvPr/>
        </p:nvSpPr>
        <p:spPr>
          <a:xfrm>
            <a:off x="8458200" y="2057400"/>
            <a:ext cx="28346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1,23 млрд</a:t>
            </a:r>
            <a:endParaRPr lang="en-US" sz="3200" dirty="0"/>
          </a:p>
        </p:txBody>
      </p:sp>
      <p:sp>
        <p:nvSpPr>
          <p:cNvPr id="10" name="Text 7"/>
          <p:cNvSpPr/>
          <p:nvPr/>
        </p:nvSpPr>
        <p:spPr>
          <a:xfrm>
            <a:off x="8458200" y="2697480"/>
            <a:ext cx="2834640" cy="10058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сум в год при неизменном поведении — это нижняя граница, посчитанная без допущений</a:t>
            </a:r>
            <a:endParaRPr lang="en-US" sz="1250" dirty="0"/>
          </a:p>
        </p:txBody>
      </p:sp>
      <p:sp>
        <p:nvSpPr>
          <p:cNvPr id="11" name="Shape 8"/>
          <p:cNvSpPr/>
          <p:nvPr/>
        </p:nvSpPr>
        <p:spPr>
          <a:xfrm>
            <a:off x="8229600" y="3977640"/>
            <a:ext cx="3291840" cy="2103120"/>
          </a:xfrm>
          <a:prstGeom prst="roundRect">
            <a:avLst>
              <a:gd name="adj" fmla="val 3913"/>
            </a:avLst>
          </a:prstGeom>
          <a:solidFill>
            <a:srgbClr val="F4F6FC"/>
          </a:solidFill>
          <a:ln w="12700">
            <a:solidFill>
              <a:srgbClr val="E2E6F2"/>
            </a:solidFill>
            <a:prstDash val="solid"/>
          </a:ln>
          <a:effectLst>
            <a:outerShdw sx="100000" sy="100000" kx="0" ky="0" algn="bl" rotWithShape="0" blurRad="101600" dist="25400" dir="5400000">
              <a:srgbClr val="9AA3BF">
                <a:alpha val="25000"/>
              </a:srgbClr>
            </a:outerShdw>
          </a:effectLst>
        </p:spPr>
      </p:sp>
      <p:sp>
        <p:nvSpPr>
          <p:cNvPr id="12" name="Text 9"/>
          <p:cNvSpPr/>
          <p:nvPr/>
        </p:nvSpPr>
        <p:spPr>
          <a:xfrm>
            <a:off x="8458200" y="4133088"/>
            <a:ext cx="2834640" cy="320040"/>
          </a:xfrm>
          <a:prstGeom prst="rect">
            <a:avLst/>
          </a:prstGeom>
          <a:noFill/>
          <a:ln/>
        </p:spPr>
        <p:txBody>
          <a:bodyPr wrap="square" lIns="0" tIns="0" rIns="0" bIns="0" rtlCol="0" anchor="ctr"/>
          <a:lstStyle/>
          <a:p>
            <a:pPr indent="0" marL="0">
              <a:buNone/>
            </a:pPr>
            <a:r>
              <a:rPr lang="en-US" sz="1500" b="1" dirty="0">
                <a:solidFill>
                  <a:srgbClr val="C7443E"/>
                </a:solidFill>
                <a:latin typeface="Cambria" pitchFamily="34" charset="0"/>
                <a:ea typeface="Cambria" pitchFamily="34" charset="-122"/>
                <a:cs typeface="Cambria" pitchFamily="34" charset="-120"/>
              </a:rPr>
              <a:t>Решает один параметр</a:t>
            </a:r>
            <a:endParaRPr lang="en-US" sz="1500" dirty="0"/>
          </a:p>
        </p:txBody>
      </p:sp>
      <p:sp>
        <p:nvSpPr>
          <p:cNvPr id="13" name="Text 10"/>
          <p:cNvSpPr/>
          <p:nvPr/>
        </p:nvSpPr>
        <p:spPr>
          <a:xfrm>
            <a:off x="8458200" y="4498848"/>
            <a:ext cx="2834640" cy="146304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Отток Оборотов при росте абонплаты втрое. Реформа уходит в минус примерно при 12% — это 260 человек из 2 196. Пилот ставим на них.</a:t>
            </a:r>
            <a:endParaRPr lang="en-US" sz="1150" dirty="0"/>
          </a:p>
          <a:p>
            <a:pPr indent="0" marL="0">
              <a:buNone/>
            </a:pPr>
            <a:endParaRPr lang="en-US" sz="1150" dirty="0"/>
          </a:p>
          <a:p>
            <a:pPr indent="0" marL="0">
              <a:buNone/>
            </a:pPr>
            <a:r>
              <a:rPr lang="en-US" sz="1150" dirty="0">
                <a:solidFill>
                  <a:srgbClr val="1A1A2E"/>
                </a:solidFill>
                <a:latin typeface="Calibri" pitchFamily="34" charset="0"/>
                <a:ea typeface="Calibri" pitchFamily="34" charset="-122"/>
                <a:cs typeface="Calibri" pitchFamily="34" charset="-120"/>
              </a:rPr>
              <a:t>Переток наличных в безнал на итог почти не влияет.</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502920"/>
            <a:ext cx="1069848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Какое решение бизнеса меняется</a:t>
            </a:r>
            <a:endParaRPr lang="en-US" sz="3400" dirty="0"/>
          </a:p>
        </p:txBody>
      </p:sp>
      <p:sp>
        <p:nvSpPr>
          <p:cNvPr id="3" name="Shape 1"/>
          <p:cNvSpPr/>
          <p:nvPr/>
        </p:nvSpPr>
        <p:spPr>
          <a:xfrm>
            <a:off x="731520" y="1563624"/>
            <a:ext cx="548640" cy="548640"/>
          </a:xfrm>
          <a:prstGeom prst="ellipse">
            <a:avLst/>
          </a:prstGeom>
          <a:solidFill>
            <a:srgbClr val="CADCFC"/>
          </a:solidFill>
          <a:ln w="12700">
            <a:solidFill>
              <a:srgbClr val="CADCFC"/>
            </a:solidFill>
            <a:prstDash val="solid"/>
          </a:ln>
        </p:spPr>
      </p:sp>
      <p:sp>
        <p:nvSpPr>
          <p:cNvPr id="4" name="Text 2"/>
          <p:cNvSpPr/>
          <p:nvPr/>
        </p:nvSpPr>
        <p:spPr>
          <a:xfrm>
            <a:off x="731520" y="1627632"/>
            <a:ext cx="548640" cy="420624"/>
          </a:xfrm>
          <a:prstGeom prst="rect">
            <a:avLst/>
          </a:prstGeom>
          <a:noFill/>
          <a:ln/>
        </p:spPr>
        <p:txBody>
          <a:bodyPr wrap="square" lIns="0" tIns="0" rIns="0" bIns="0" rtlCol="0" anchor="ctr"/>
          <a:lstStyle/>
          <a:p>
            <a:pPr algn="ctr" indent="0" marL="0">
              <a:buNone/>
            </a:pPr>
            <a:r>
              <a:rPr lang="en-US" sz="2100" b="1" dirty="0">
                <a:solidFill>
                  <a:srgbClr val="1E2761"/>
                </a:solidFill>
                <a:latin typeface="Cambria" pitchFamily="34" charset="0"/>
                <a:ea typeface="Cambria" pitchFamily="34" charset="-122"/>
                <a:cs typeface="Cambria" pitchFamily="34" charset="-120"/>
              </a:rPr>
              <a:t>1</a:t>
            </a:r>
            <a:endParaRPr lang="en-US" sz="2100" dirty="0"/>
          </a:p>
        </p:txBody>
      </p:sp>
      <p:sp>
        <p:nvSpPr>
          <p:cNvPr id="5" name="Text 3"/>
          <p:cNvSpPr/>
          <p:nvPr/>
        </p:nvSpPr>
        <p:spPr>
          <a:xfrm>
            <a:off x="1508760" y="1508760"/>
            <a:ext cx="9784080" cy="365760"/>
          </a:xfrm>
          <a:prstGeom prst="rect">
            <a:avLst/>
          </a:prstGeom>
          <a:noFill/>
          <a:ln/>
        </p:spPr>
        <p:txBody>
          <a:bodyPr wrap="square" lIns="0" tIns="0" rIns="0" bIns="0"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Оборот — не главная ось</a:t>
            </a:r>
            <a:endParaRPr lang="en-US" sz="1900" dirty="0"/>
          </a:p>
        </p:txBody>
      </p:sp>
      <p:sp>
        <p:nvSpPr>
          <p:cNvPr id="6" name="Text 4"/>
          <p:cNvSpPr/>
          <p:nvPr/>
        </p:nvSpPr>
        <p:spPr>
          <a:xfrm>
            <a:off x="1508760" y="1892808"/>
            <a:ext cx="9784080" cy="10058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Хранители остатка и Цифровые тратчики приносят банку сопоставимые деньги: 183 и 71 тысяча на клиента в месяц. Но природа дохода разная — размещение средств против интерчейнджа. По квартилям оборота они попали бы в разные группы и смешались бы там с непохожими клиентами.</a:t>
            </a:r>
            <a:endParaRPr lang="en-US" sz="1300" dirty="0"/>
          </a:p>
        </p:txBody>
      </p:sp>
      <p:sp>
        <p:nvSpPr>
          <p:cNvPr id="7" name="Shape 5"/>
          <p:cNvSpPr/>
          <p:nvPr/>
        </p:nvSpPr>
        <p:spPr>
          <a:xfrm>
            <a:off x="731520" y="3099816"/>
            <a:ext cx="548640" cy="548640"/>
          </a:xfrm>
          <a:prstGeom prst="ellipse">
            <a:avLst/>
          </a:prstGeom>
          <a:solidFill>
            <a:srgbClr val="CADCFC"/>
          </a:solidFill>
          <a:ln w="12700">
            <a:solidFill>
              <a:srgbClr val="CADCFC"/>
            </a:solidFill>
            <a:prstDash val="solid"/>
          </a:ln>
        </p:spPr>
      </p:sp>
      <p:sp>
        <p:nvSpPr>
          <p:cNvPr id="8" name="Text 6"/>
          <p:cNvSpPr/>
          <p:nvPr/>
        </p:nvSpPr>
        <p:spPr>
          <a:xfrm>
            <a:off x="731520" y="3163824"/>
            <a:ext cx="548640" cy="420624"/>
          </a:xfrm>
          <a:prstGeom prst="rect">
            <a:avLst/>
          </a:prstGeom>
          <a:noFill/>
          <a:ln/>
        </p:spPr>
        <p:txBody>
          <a:bodyPr wrap="square" lIns="0" tIns="0" rIns="0" bIns="0" rtlCol="0" anchor="ctr"/>
          <a:lstStyle/>
          <a:p>
            <a:pPr algn="ctr" indent="0" marL="0">
              <a:buNone/>
            </a:pPr>
            <a:r>
              <a:rPr lang="en-US" sz="2100" b="1" dirty="0">
                <a:solidFill>
                  <a:srgbClr val="1E2761"/>
                </a:solidFill>
                <a:latin typeface="Cambria" pitchFamily="34" charset="0"/>
                <a:ea typeface="Cambria" pitchFamily="34" charset="-122"/>
                <a:cs typeface="Cambria" pitchFamily="34" charset="-120"/>
              </a:rPr>
              <a:t>2</a:t>
            </a:r>
            <a:endParaRPr lang="en-US" sz="2100" dirty="0"/>
          </a:p>
        </p:txBody>
      </p:sp>
      <p:sp>
        <p:nvSpPr>
          <p:cNvPr id="9" name="Text 7"/>
          <p:cNvSpPr/>
          <p:nvPr/>
        </p:nvSpPr>
        <p:spPr>
          <a:xfrm>
            <a:off x="1508760" y="3044952"/>
            <a:ext cx="9784080" cy="365760"/>
          </a:xfrm>
          <a:prstGeom prst="rect">
            <a:avLst/>
          </a:prstGeom>
          <a:noFill/>
          <a:ln/>
        </p:spPr>
        <p:txBody>
          <a:bodyPr wrap="square" lIns="0" tIns="0" rIns="0" bIns="0"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Самый крупный тип платит меньше всех</a:t>
            </a:r>
            <a:endParaRPr lang="en-US" sz="1900" dirty="0"/>
          </a:p>
        </p:txBody>
      </p:sp>
      <p:sp>
        <p:nvSpPr>
          <p:cNvPr id="10" name="Text 8"/>
          <p:cNvSpPr/>
          <p:nvPr/>
        </p:nvSpPr>
        <p:spPr>
          <a:xfrm>
            <a:off x="1508760" y="3429000"/>
            <a:ext cx="9784080" cy="10058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Наличные повседневные — 41% базы и 11% дохода. Это прямой кандидат на пересмотр лимита бесплатных снятий или на кампанию по переводу в безналичные платежи. Без типологии он растворился бы в середине распределения по обороту.</a:t>
            </a:r>
            <a:endParaRPr lang="en-US" sz="1300" dirty="0"/>
          </a:p>
        </p:txBody>
      </p:sp>
      <p:sp>
        <p:nvSpPr>
          <p:cNvPr id="11" name="Shape 9"/>
          <p:cNvSpPr/>
          <p:nvPr/>
        </p:nvSpPr>
        <p:spPr>
          <a:xfrm>
            <a:off x="731520" y="4636008"/>
            <a:ext cx="548640" cy="548640"/>
          </a:xfrm>
          <a:prstGeom prst="ellipse">
            <a:avLst/>
          </a:prstGeom>
          <a:solidFill>
            <a:srgbClr val="CADCFC"/>
          </a:solidFill>
          <a:ln w="12700">
            <a:solidFill>
              <a:srgbClr val="CADCFC"/>
            </a:solidFill>
            <a:prstDash val="solid"/>
          </a:ln>
        </p:spPr>
      </p:sp>
      <p:sp>
        <p:nvSpPr>
          <p:cNvPr id="12" name="Text 10"/>
          <p:cNvSpPr/>
          <p:nvPr/>
        </p:nvSpPr>
        <p:spPr>
          <a:xfrm>
            <a:off x="731520" y="4700016"/>
            <a:ext cx="548640" cy="420624"/>
          </a:xfrm>
          <a:prstGeom prst="rect">
            <a:avLst/>
          </a:prstGeom>
          <a:noFill/>
          <a:ln/>
        </p:spPr>
        <p:txBody>
          <a:bodyPr wrap="square" lIns="0" tIns="0" rIns="0" bIns="0" rtlCol="0" anchor="ctr"/>
          <a:lstStyle/>
          <a:p>
            <a:pPr algn="ctr" indent="0" marL="0">
              <a:buNone/>
            </a:pPr>
            <a:r>
              <a:rPr lang="en-US" sz="2100" b="1" dirty="0">
                <a:solidFill>
                  <a:srgbClr val="1E2761"/>
                </a:solidFill>
                <a:latin typeface="Cambria" pitchFamily="34" charset="0"/>
                <a:ea typeface="Cambria" pitchFamily="34" charset="-122"/>
                <a:cs typeface="Cambria" pitchFamily="34" charset="-120"/>
              </a:rPr>
              <a:t>3</a:t>
            </a:r>
            <a:endParaRPr lang="en-US" sz="2100" dirty="0"/>
          </a:p>
        </p:txBody>
      </p:sp>
      <p:sp>
        <p:nvSpPr>
          <p:cNvPr id="13" name="Text 11"/>
          <p:cNvSpPr/>
          <p:nvPr/>
        </p:nvSpPr>
        <p:spPr>
          <a:xfrm>
            <a:off x="1508760" y="4581144"/>
            <a:ext cx="9784080" cy="365760"/>
          </a:xfrm>
          <a:prstGeom prst="rect">
            <a:avLst/>
          </a:prstGeom>
          <a:noFill/>
          <a:ln/>
        </p:spPr>
        <p:txBody>
          <a:bodyPr wrap="square" lIns="0" tIns="0" rIns="0" bIns="0"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Спящие платят за то, чем не пользуются</a:t>
            </a:r>
            <a:endParaRPr lang="en-US" sz="1900" dirty="0"/>
          </a:p>
        </p:txBody>
      </p:sp>
      <p:sp>
        <p:nvSpPr>
          <p:cNvPr id="14" name="Text 12"/>
          <p:cNvSpPr/>
          <p:nvPr/>
        </p:nvSpPr>
        <p:spPr>
          <a:xfrm>
            <a:off x="1508760" y="4965192"/>
            <a:ext cx="9784080" cy="10058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1 946 человек приносят 4 081 сум операционного дохода при абонплате 15 000. Четыре пятых того, что банк с них получает, — это плата за неиспользуемую карту. Такой доход не устойчив: он держится ровно до того дня, когда клиент заметит.</a:t>
            </a:r>
            <a:endParaRPr lang="en-US" sz="1300" dirty="0"/>
          </a:p>
        </p:txBody>
      </p:sp>
      <p:sp>
        <p:nvSpPr>
          <p:cNvPr id="15" name="Shape 13"/>
          <p:cNvSpPr/>
          <p:nvPr/>
        </p:nvSpPr>
        <p:spPr>
          <a:xfrm>
            <a:off x="731520" y="6172200"/>
            <a:ext cx="10698480" cy="0"/>
          </a:xfrm>
          <a:prstGeom prst="line">
            <a:avLst/>
          </a:prstGeom>
          <a:noFill/>
          <a:ln w="12700">
            <a:solidFill>
              <a:srgbClr val="3D4A94"/>
            </a:solidFill>
            <a:prstDash val="solid"/>
          </a:ln>
        </p:spPr>
      </p:sp>
      <p:sp>
        <p:nvSpPr>
          <p:cNvPr id="16" name="Text 14"/>
          <p:cNvSpPr/>
          <p:nvPr/>
        </p:nvSpPr>
        <p:spPr>
          <a:xfrm>
            <a:off x="731520" y="6291072"/>
            <a:ext cx="1069848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Пять типов вместо одного тарифа. Типология, которая не меняет ни одного решения, стоит ноль — эта меняет три.</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2026-08-21T15:43:06Z</dcterms:created>
  <dcterms:modified xsi:type="dcterms:W3CDTF">2026-08-21T15:43:06Z</dcterms:modified>
</cp:coreProperties>
</file>